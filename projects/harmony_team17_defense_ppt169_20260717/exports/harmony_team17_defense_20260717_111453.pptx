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各位老师好，我们是 TEAM17。今天汇报的项目是白泽，一款基于 HarmonyOS 的企业知识与流程协作应用。它的目标是把员工在移动端最常见的知识查询、智能问答、流程办理和协作跟进放到一个入口中。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白泽的核心不在于堆叠功能，而在于形成连续闭环。员工可以先查制度，再向助手提问，由系统推荐流程并智能预填，最后提交和跟踪处理结果。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在鸿蒙端，我们使用 ArkTS 和 ArkUI 组织组件化页面，并通过 UseCase、Repository 和 HTTP Adapter 分层。这样页面不直接绑定数据来源，可以从本地 Mock 平滑切换到后端接口。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邢思琦负责名称与图标设计。白泽来自中国传统文化中辨识万物、通晓知识的意象，与项目的知识理解、流程推荐和风险提示定位相呼应。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内部邮件除了收件箱和写邮件能力，还能关联已有知识和业务流程。用户可以继续编辑助手生成的邮件草稿，使沟通信息带有完整业务上下文。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考勤页把今日签到签退状态、时间地点和备注集中呈现，并保留近期记录。这样既保证移动操作有明确反馈，也方便用户回访核对。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知识详情支持收藏、纠错和关联流程。收藏后，员工能在个人中心回访高频制度，而不是重新检索，从阅读自然进入下一步办理。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李金航负责后端开发。后端以 NestJS 按认证、知识、流程、通知、考勤、邮件、助手和协作划分模块，使用 Prisma 映射 SQLite，并以 Token 和统一响应结构支持前后端联调。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协作模块首先呈现组织关系，帮助员工明确协作对象；随后围绕会议、任务等工作对象展示参与人、截止时间与处理状态，让协作事项可持续跟进。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李承岩负责智能助手。用户既可以直接输入制度问题，也可以从相册选择图片。助手返回制度摘要、关联知识、推荐流程和缺失字段提示，避免用户在多个页面之间反复查找。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模板与知识库为不同业务场景提供标准入口。知识模块支持分类、详情、收藏和纠错；流程模板覆盖请假、报销、采购和权限等常见事项。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工作栏以当前身份、部门、待办数量和快捷入口为核心。不同角色登录后看到不同的待办和能力，用户可以快速到达知识、助手、流程和协作页面。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本项目最有代表性的创新点是智能预填。它不是把用户简单跳转到表单，而是从问题中提取标题、日期、金额、事由和附件等字段，写入后续流程草稿，用户补充缺失信息后即可提交。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我们在 DevEco Studio 与 HarmonyOS 模拟器中运行移动端，后端运行 NestJS 服务并使用 SQLite 演示数据。测试覆盖登录、知识、助手、流程、通知、考勤、邮件和协作等主要路径，同时关注图片清晰度、Token 有效性与缺失字段。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以上是白泽的课程设计汇报。项目让我们完成了 ArkTS、ArkUI、前后端分层与业务协同的综合实践，也验证了从知识查询到业务执行的移动端闭环。谢谢老师。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aada6cecdbc8cf0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87fe883db484fad.png"/>
  <Relationship Id="rId3" Type="http://schemas.openxmlformats.org/officeDocument/2006/relationships/image" Target="../media/image_81b8919b25566630.pn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df4100d0f181f08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27466fd545eb0ff.png"/>
  <Relationship Id="rId3" Type="http://schemas.openxmlformats.org/officeDocument/2006/relationships/image" Target="../media/image_faada6cecdbc8cf0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13a3b5d3e424b71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5f17ee540c62b33.png"/>
  <Relationship Id="rId3" Type="http://schemas.openxmlformats.org/officeDocument/2006/relationships/image" Target="../media/image_fc6ddf2c8276dc85.png"/>
  <Relationship Id="rId4" Type="http://schemas.openxmlformats.org/officeDocument/2006/relationships/image" Target="../media/image_2a4322cd1e6eee66.png"/>
  <Relationship Id="rId5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9c792ec5ace7832.png"/>
  <Relationship Id="rId3" Type="http://schemas.openxmlformats.org/officeDocument/2006/relationships/image" Target="../media/image_7630a0420015b5ff.png"/>
  <Relationship Id="rId4" Type="http://schemas.openxmlformats.org/officeDocument/2006/relationships/image" Target="../media/image_0ee774bfae83b886.png"/>
  <Relationship Id="rId5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c6ac17eb66e1226.png"/>
  <Relationship Id="rId3" Type="http://schemas.openxmlformats.org/officeDocument/2006/relationships/image" Target="../media/image_427466fd545eb0ff.png"/>
  <Relationship Id="rId4" Type="http://schemas.openxmlformats.org/officeDocument/2006/relationships/image" Target="../media/image_3f302831dc700903.png"/>
  <Relationship Id="rId5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aada6cecdbc8cf0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123B6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953000" y="0"/>
            <a:ext cx="114300" cy="6858000"/>
          </a:xfrm>
          <a:prstGeom prst="rect">
            <a:avLst/>
          </a:prstGeom>
          <a:solidFill>
            <a:srgbClr val="E63B4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37210" y="1202055"/>
            <a:ext cx="3524588" cy="2831783"/>
            <a:chOff x="537210" y="1202055"/>
            <a:chExt cx="3524588" cy="2831783"/>
          </a:xfrm>
        </p:grpSpPr>
        <p:sp>
          <p:nvSpPr>
            <p:cNvPr id="5" name="TextBox 5"/>
            <p:cNvSpPr txBox="1"/>
            <p:nvPr/>
          </p:nvSpPr>
          <p:spPr>
            <a:xfrm>
              <a:off x="582930" y="1202055"/>
              <a:ext cx="347886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A38A"/>
                  </a:solidFill>
                  <a:latin typeface="Arial"/>
                  <a:ea typeface="Microsoft YaHei"/>
                  <a:cs typeface="Arial"/>
                </a:rPr>
                <a:t>HarmonyOS 课程设计答辩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37210" y="1784985"/>
              <a:ext cx="1740980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白泽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2930" y="2649855"/>
              <a:ext cx="25736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企业知识与流程协作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2455" y="375951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2025-2026 学年第二学期 · 移动软件开发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8645" y="4476750"/>
            <a:ext cx="3221355" cy="1176338"/>
            <a:chOff x="588645" y="4476750"/>
            <a:chExt cx="3221355" cy="1176338"/>
          </a:xfrm>
        </p:grpSpPr>
        <p:sp>
          <p:nvSpPr>
            <p:cNvPr id="10" name="Line 10"/>
            <p:cNvSpPr/>
            <p:nvPr/>
          </p:nvSpPr>
          <p:spPr>
            <a:xfrm>
              <a:off x="609600" y="44767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19050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8645" y="4679632"/>
              <a:ext cx="8120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TEAM17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2455" y="5073968"/>
              <a:ext cx="30136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24080212 邢思琦 · 24080218 李金航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2455" y="5378768"/>
              <a:ext cx="14204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24080217 李承岩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77000" y="666750"/>
            <a:ext cx="5035582" cy="5715000"/>
            <a:chOff x="6477000" y="666750"/>
            <a:chExt cx="5035582" cy="5715000"/>
          </a:xfrm>
        </p:grpSpPr>
        <p:sp>
          <p:nvSpPr>
            <p:cNvPr id="15" name="Rectangle 15"/>
            <p:cNvSpPr/>
            <p:nvPr/>
          </p:nvSpPr>
          <p:spPr>
            <a:xfrm>
              <a:off x="6477000" y="666750"/>
              <a:ext cx="3143250" cy="5715000"/>
            </a:xfrm>
            <a:prstGeom prst="roundRect">
              <a:avLst>
                <a:gd name="adj" fmla="val 2424"/>
              </a:avLst>
            </a:prstGeom>
            <a:solidFill>
              <a:srgbClr val="EAF0F7"/>
            </a:solidFill>
            <a:ln w="19050">
              <a:solidFill>
                <a:srgbClr val="D7E0EA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7962" y="809625"/>
              <a:ext cx="2601327" cy="5429250"/>
            </a:xfrm>
            <a:prstGeom prst="rect">
              <a:avLst/>
            </a:prstGeom>
          </p:spPr>
        </p:pic>
        <p:sp>
          <p:nvSpPr>
            <p:cNvPr id="17" name="Ellipse 17"/>
            <p:cNvSpPr/>
            <p:nvPr/>
          </p:nvSpPr>
          <p:spPr>
            <a:xfrm>
              <a:off x="9782175" y="1114425"/>
              <a:ext cx="1104900" cy="1104900"/>
            </a:xfrm>
            <a:prstGeom prst="ellipse">
              <a:avLst/>
            </a:prstGeom>
            <a:solidFill>
              <a:srgbClr val="E63B46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0125670" y="1490067"/>
              <a:ext cx="417909" cy="353616"/>
              <a:chOff x="10125670" y="1490067"/>
              <a:chExt cx="417909" cy="35361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141744" y="1506141"/>
                <a:ext cx="385762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385762" h="321469">
                    <a:moveTo>
                      <a:pt x="385762" y="16073"/>
                    </a:moveTo>
                    <a:lnTo>
                      <a:pt x="385762" y="305395"/>
                    </a:lnTo>
                    <a:cubicBezTo>
                      <a:pt x="385762" y="314272"/>
                      <a:pt x="378566" y="321469"/>
                      <a:pt x="369689" y="321469"/>
                    </a:cubicBezTo>
                    <a:lnTo>
                      <a:pt x="16073" y="321469"/>
                    </a:lnTo>
                    <a:cubicBezTo>
                      <a:pt x="7196" y="321469"/>
                      <a:pt x="0" y="314272"/>
                      <a:pt x="0" y="305395"/>
                    </a:cubicBezTo>
                    <a:lnTo>
                      <a:pt x="0" y="16073"/>
                    </a:lnTo>
                    <a:cubicBezTo>
                      <a:pt x="0" y="7196"/>
                      <a:pt x="7196" y="0"/>
                      <a:pt x="16073" y="0"/>
                    </a:cubicBezTo>
                    <a:lnTo>
                      <a:pt x="369689" y="0"/>
                    </a:lnTo>
                    <a:cubicBezTo>
                      <a:pt x="378566" y="0"/>
                      <a:pt x="385762" y="7196"/>
                      <a:pt x="385762" y="16073"/>
                    </a:cubicBezTo>
                    <a:close/>
                  </a:path>
                </a:pathLst>
              </a:custGeom>
              <a:solidFill>
                <a:srgbClr val="E63B4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125670" y="1490067"/>
                <a:ext cx="417909" cy="353616"/>
              </a:xfrm>
              <a:custGeom>
                <a:avLst/>
                <a:gdLst/>
                <a:ahLst/>
                <a:cxnLst/>
                <a:rect l="l" t="t" r="r" b="b"/>
                <a:pathLst>
                  <a:path w="417909" h="353616">
                    <a:moveTo>
                      <a:pt x="385762" y="0"/>
                    </a:move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321469"/>
                    </a:lnTo>
                    <a:cubicBezTo>
                      <a:pt x="0" y="339223"/>
                      <a:pt x="14393" y="353616"/>
                      <a:pt x="32147" y="353616"/>
                    </a:cubicBezTo>
                    <a:lnTo>
                      <a:pt x="385762" y="353616"/>
                    </a:lnTo>
                    <a:cubicBezTo>
                      <a:pt x="403517" y="353616"/>
                      <a:pt x="417909" y="339223"/>
                      <a:pt x="417909" y="321469"/>
                    </a:cubicBezTo>
                    <a:lnTo>
                      <a:pt x="417909" y="32147"/>
                    </a:lnTo>
                    <a:cubicBezTo>
                      <a:pt x="417909" y="14393"/>
                      <a:pt x="403517" y="0"/>
                      <a:pt x="385762" y="0"/>
                    </a:cubicBezTo>
                    <a:close/>
                    <a:moveTo>
                      <a:pt x="385762" y="321469"/>
                    </a:moveTo>
                    <a:lnTo>
                      <a:pt x="32147" y="321469"/>
                    </a:lnTo>
                    <a:lnTo>
                      <a:pt x="32147" y="32147"/>
                    </a:lnTo>
                    <a:lnTo>
                      <a:pt x="385762" y="32147"/>
                    </a:lnTo>
                    <a:lnTo>
                      <a:pt x="385762" y="321469"/>
                    </a:lnTo>
                    <a:close/>
                    <a:moveTo>
                      <a:pt x="112514" y="88404"/>
                    </a:moveTo>
                    <a:cubicBezTo>
                      <a:pt x="112514" y="101720"/>
                      <a:pt x="101720" y="112514"/>
                      <a:pt x="88404" y="112514"/>
                    </a:cubicBezTo>
                    <a:cubicBezTo>
                      <a:pt x="75088" y="112514"/>
                      <a:pt x="64294" y="101720"/>
                      <a:pt x="64294" y="88404"/>
                    </a:cubicBezTo>
                    <a:cubicBezTo>
                      <a:pt x="64294" y="75088"/>
                      <a:pt x="75088" y="64294"/>
                      <a:pt x="88404" y="64294"/>
                    </a:cubicBezTo>
                    <a:cubicBezTo>
                      <a:pt x="101720" y="64294"/>
                      <a:pt x="112514" y="75088"/>
                      <a:pt x="112514" y="88404"/>
                    </a:cubicBezTo>
                    <a:close/>
                    <a:moveTo>
                      <a:pt x="192881" y="88404"/>
                    </a:moveTo>
                    <a:cubicBezTo>
                      <a:pt x="192881" y="101720"/>
                      <a:pt x="182087" y="112514"/>
                      <a:pt x="168771" y="112514"/>
                    </a:cubicBezTo>
                    <a:cubicBezTo>
                      <a:pt x="155455" y="112514"/>
                      <a:pt x="144661" y="101720"/>
                      <a:pt x="144661" y="88404"/>
                    </a:cubicBezTo>
                    <a:cubicBezTo>
                      <a:pt x="144661" y="75088"/>
                      <a:pt x="155455" y="64294"/>
                      <a:pt x="168771" y="64294"/>
                    </a:cubicBezTo>
                    <a:cubicBezTo>
                      <a:pt x="182087" y="64294"/>
                      <a:pt x="192881" y="75088"/>
                      <a:pt x="192881" y="88404"/>
                    </a:cubicBezTo>
                    <a:close/>
                  </a:path>
                </a:pathLst>
              </a:custGeom>
              <a:solidFill>
                <a:srgbClr val="E63B46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9982200" y="26003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一个移动入口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84105" y="2949892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知识 · 智能 · 协作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400050"/>
            <a:ext cx="6376988" cy="795338"/>
            <a:chOff x="495300" y="400050"/>
            <a:chExt cx="6376988" cy="795338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40005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从知识查询到流程办理的移动闭环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6255" y="9210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产品价值在于知识理解驱动业务办理的连续路径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52550" y="2305050"/>
            <a:ext cx="9832301" cy="1643062"/>
            <a:chOff x="1352550" y="2305050"/>
            <a:chExt cx="9832301" cy="1643062"/>
          </a:xfrm>
        </p:grpSpPr>
        <p:sp>
          <p:nvSpPr>
            <p:cNvPr id="6" name="Line 6"/>
            <p:cNvSpPr/>
            <p:nvPr/>
          </p:nvSpPr>
          <p:spPr>
            <a:xfrm>
              <a:off x="1619250" y="285750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52550" y="2305050"/>
              <a:ext cx="1104900" cy="1104900"/>
            </a:xfrm>
            <a:prstGeom prst="ellipse">
              <a:avLst/>
            </a:prstGeom>
            <a:solidFill>
              <a:srgbClr val="123B6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210050" y="2305050"/>
              <a:ext cx="1104900" cy="1104900"/>
            </a:xfrm>
            <a:prstGeom prst="ellipse">
              <a:avLst/>
            </a:prstGeom>
            <a:solidFill>
              <a:srgbClr val="E63B4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067550" y="2305050"/>
              <a:ext cx="1104900" cy="1104900"/>
            </a:xfrm>
            <a:prstGeom prst="ellipse">
              <a:avLst/>
            </a:prstGeom>
            <a:solidFill>
              <a:srgbClr val="18A38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25050" y="2305050"/>
              <a:ext cx="1104900" cy="1104900"/>
            </a:xfrm>
            <a:prstGeom prst="ellipse">
              <a:avLst/>
            </a:prstGeom>
            <a:solidFill>
              <a:srgbClr val="123B63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71638" y="2690812"/>
              <a:ext cx="466725" cy="400050"/>
              <a:chOff x="1671638" y="2690812"/>
              <a:chExt cx="466725" cy="4000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88306" y="2707481"/>
                <a:ext cx="433388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366712">
                    <a:moveTo>
                      <a:pt x="433388" y="16669"/>
                    </a:moveTo>
                    <a:lnTo>
                      <a:pt x="433388" y="283369"/>
                    </a:lnTo>
                    <a:cubicBezTo>
                      <a:pt x="433388" y="292575"/>
                      <a:pt x="425925" y="300038"/>
                      <a:pt x="416719" y="300038"/>
                    </a:cubicBezTo>
                    <a:lnTo>
                      <a:pt x="283369" y="300038"/>
                    </a:lnTo>
                    <a:cubicBezTo>
                      <a:pt x="246545" y="300038"/>
                      <a:pt x="216694" y="329889"/>
                      <a:pt x="216694" y="366712"/>
                    </a:cubicBezTo>
                    <a:cubicBezTo>
                      <a:pt x="216694" y="329889"/>
                      <a:pt x="186842" y="300038"/>
                      <a:pt x="150019" y="300038"/>
                    </a:cubicBezTo>
                    <a:lnTo>
                      <a:pt x="16669" y="300038"/>
                    </a:lnTo>
                    <a:cubicBezTo>
                      <a:pt x="7463" y="300038"/>
                      <a:pt x="0" y="292575"/>
                      <a:pt x="0" y="283369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150019" y="0"/>
                    </a:lnTo>
                    <a:cubicBezTo>
                      <a:pt x="186842" y="0"/>
                      <a:pt x="216694" y="29851"/>
                      <a:pt x="216694" y="66675"/>
                    </a:cubicBezTo>
                    <a:cubicBezTo>
                      <a:pt x="216694" y="29851"/>
                      <a:pt x="246545" y="0"/>
                      <a:pt x="283369" y="0"/>
                    </a:cubicBezTo>
                    <a:lnTo>
                      <a:pt x="416719" y="0"/>
                    </a:lnTo>
                    <a:cubicBezTo>
                      <a:pt x="425925" y="0"/>
                      <a:pt x="433388" y="7463"/>
                      <a:pt x="433388" y="16669"/>
                    </a:cubicBezTo>
                    <a:close/>
                  </a:path>
                </a:pathLst>
              </a:custGeom>
              <a:solidFill>
                <a:srgbClr val="F7F9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71638" y="2690812"/>
                <a:ext cx="466725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400050">
                    <a:moveTo>
                      <a:pt x="433388" y="0"/>
                    </a:moveTo>
                    <a:lnTo>
                      <a:pt x="300038" y="0"/>
                    </a:lnTo>
                    <a:cubicBezTo>
                      <a:pt x="273804" y="0"/>
                      <a:pt x="249102" y="12351"/>
                      <a:pt x="233362" y="33338"/>
                    </a:cubicBezTo>
                    <a:cubicBezTo>
                      <a:pt x="217623" y="12351"/>
                      <a:pt x="192921" y="0"/>
                      <a:pt x="166688" y="0"/>
                    </a:cubicBez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300038"/>
                    </a:lnTo>
                    <a:cubicBezTo>
                      <a:pt x="0" y="318449"/>
                      <a:pt x="14926" y="333375"/>
                      <a:pt x="33338" y="333375"/>
                    </a:cubicBezTo>
                    <a:lnTo>
                      <a:pt x="166688" y="333375"/>
                    </a:lnTo>
                    <a:cubicBezTo>
                      <a:pt x="194305" y="333375"/>
                      <a:pt x="216694" y="355764"/>
                      <a:pt x="216694" y="383381"/>
                    </a:cubicBezTo>
                    <a:cubicBezTo>
                      <a:pt x="216694" y="392587"/>
                      <a:pt x="224157" y="400050"/>
                      <a:pt x="233362" y="400050"/>
                    </a:cubicBezTo>
                    <a:cubicBezTo>
                      <a:pt x="242568" y="400050"/>
                      <a:pt x="250031" y="392587"/>
                      <a:pt x="250031" y="383381"/>
                    </a:cubicBezTo>
                    <a:cubicBezTo>
                      <a:pt x="250031" y="355764"/>
                      <a:pt x="272420" y="333375"/>
                      <a:pt x="300038" y="333375"/>
                    </a:cubicBezTo>
                    <a:lnTo>
                      <a:pt x="433388" y="333375"/>
                    </a:lnTo>
                    <a:cubicBezTo>
                      <a:pt x="451799" y="333375"/>
                      <a:pt x="466725" y="318449"/>
                      <a:pt x="466725" y="300038"/>
                    </a:cubicBezTo>
                    <a:lnTo>
                      <a:pt x="466725" y="33338"/>
                    </a:lnTo>
                    <a:cubicBezTo>
                      <a:pt x="466725" y="14926"/>
                      <a:pt x="451799" y="0"/>
                      <a:pt x="433388" y="0"/>
                    </a:cubicBezTo>
                    <a:close/>
                    <a:moveTo>
                      <a:pt x="166688" y="300038"/>
                    </a:moveTo>
                    <a:lnTo>
                      <a:pt x="33338" y="300038"/>
                    </a:lnTo>
                    <a:lnTo>
                      <a:pt x="33338" y="33338"/>
                    </a:lnTo>
                    <a:lnTo>
                      <a:pt x="166688" y="33338"/>
                    </a:lnTo>
                    <a:cubicBezTo>
                      <a:pt x="194305" y="33338"/>
                      <a:pt x="216694" y="55726"/>
                      <a:pt x="216694" y="83344"/>
                    </a:cubicBezTo>
                    <a:lnTo>
                      <a:pt x="216694" y="316706"/>
                    </a:lnTo>
                    <a:cubicBezTo>
                      <a:pt x="202281" y="305861"/>
                      <a:pt x="184725" y="300009"/>
                      <a:pt x="166688" y="300038"/>
                    </a:cubicBezTo>
                    <a:close/>
                    <a:moveTo>
                      <a:pt x="433388" y="300038"/>
                    </a:moveTo>
                    <a:lnTo>
                      <a:pt x="300038" y="300038"/>
                    </a:lnTo>
                    <a:cubicBezTo>
                      <a:pt x="282000" y="300009"/>
                      <a:pt x="264444" y="305861"/>
                      <a:pt x="250031" y="316706"/>
                    </a:cubicBezTo>
                    <a:lnTo>
                      <a:pt x="250031" y="83344"/>
                    </a:lnTo>
                    <a:cubicBezTo>
                      <a:pt x="250031" y="55726"/>
                      <a:pt x="272420" y="33338"/>
                      <a:pt x="300038" y="33338"/>
                    </a:cubicBezTo>
                    <a:lnTo>
                      <a:pt x="433388" y="33338"/>
                    </a:lnTo>
                    <a:close/>
                  </a:path>
                </a:pathLst>
              </a:custGeom>
              <a:solidFill>
                <a:srgbClr val="F7F9FC"/>
              </a:solidFill>
              <a:ln>
                <a:noFill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4545806" y="2607469"/>
              <a:ext cx="433388" cy="450056"/>
              <a:chOff x="4545806" y="2607469"/>
              <a:chExt cx="433388" cy="45005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562475" y="2707481"/>
                <a:ext cx="4000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3375">
                    <a:moveTo>
                      <a:pt x="350044" y="0"/>
                    </a:moveTo>
                    <a:lnTo>
                      <a:pt x="50006" y="0"/>
                    </a:lnTo>
                    <a:cubicBezTo>
                      <a:pt x="22389" y="0"/>
                      <a:pt x="0" y="22389"/>
                      <a:pt x="0" y="50006"/>
                    </a:cubicBezTo>
                    <a:lnTo>
                      <a:pt x="0" y="283369"/>
                    </a:lnTo>
                    <a:cubicBezTo>
                      <a:pt x="0" y="310986"/>
                      <a:pt x="22389" y="333375"/>
                      <a:pt x="50006" y="333375"/>
                    </a:cubicBezTo>
                    <a:lnTo>
                      <a:pt x="350044" y="333375"/>
                    </a:lnTo>
                    <a:cubicBezTo>
                      <a:pt x="377661" y="333375"/>
                      <a:pt x="400050" y="310986"/>
                      <a:pt x="400050" y="283369"/>
                    </a:cubicBezTo>
                    <a:lnTo>
                      <a:pt x="400050" y="50006"/>
                    </a:lnTo>
                    <a:cubicBezTo>
                      <a:pt x="400050" y="22389"/>
                      <a:pt x="377661" y="0"/>
                      <a:pt x="350044" y="0"/>
                    </a:cubicBezTo>
                    <a:close/>
                    <a:moveTo>
                      <a:pt x="275034" y="266700"/>
                    </a:moveTo>
                    <a:lnTo>
                      <a:pt x="125016" y="266700"/>
                    </a:lnTo>
                    <a:cubicBezTo>
                      <a:pt x="102001" y="266700"/>
                      <a:pt x="83344" y="248043"/>
                      <a:pt x="83344" y="225028"/>
                    </a:cubicBezTo>
                    <a:cubicBezTo>
                      <a:pt x="83344" y="202013"/>
                      <a:pt x="102001" y="183356"/>
                      <a:pt x="125016" y="183356"/>
                    </a:cubicBezTo>
                    <a:lnTo>
                      <a:pt x="275034" y="183356"/>
                    </a:lnTo>
                    <a:cubicBezTo>
                      <a:pt x="298049" y="183356"/>
                      <a:pt x="316706" y="202013"/>
                      <a:pt x="316706" y="225028"/>
                    </a:cubicBezTo>
                    <a:cubicBezTo>
                      <a:pt x="316706" y="248043"/>
                      <a:pt x="298049" y="266700"/>
                      <a:pt x="275034" y="266700"/>
                    </a:cubicBezTo>
                    <a:close/>
                  </a:path>
                </a:pathLst>
              </a:custGeom>
              <a:solidFill>
                <a:srgbClr val="F7F9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545806" y="2607469"/>
                <a:ext cx="433388" cy="450056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50056">
                    <a:moveTo>
                      <a:pt x="366712" y="83344"/>
                    </a:moveTo>
                    <a:lnTo>
                      <a:pt x="233362" y="83344"/>
                    </a:lnTo>
                    <a:lnTo>
                      <a:pt x="233362" y="16669"/>
                    </a:lnTo>
                    <a:cubicBezTo>
                      <a:pt x="233362" y="7463"/>
                      <a:pt x="225900" y="0"/>
                      <a:pt x="216694" y="0"/>
                    </a:cubicBezTo>
                    <a:cubicBezTo>
                      <a:pt x="207488" y="0"/>
                      <a:pt x="200025" y="7463"/>
                      <a:pt x="200025" y="16669"/>
                    </a:cubicBezTo>
                    <a:lnTo>
                      <a:pt x="200025" y="83344"/>
                    </a:lnTo>
                    <a:lnTo>
                      <a:pt x="66675" y="83344"/>
                    </a:lnTo>
                    <a:cubicBezTo>
                      <a:pt x="29851" y="83344"/>
                      <a:pt x="0" y="113195"/>
                      <a:pt x="0" y="150019"/>
                    </a:cubicBezTo>
                    <a:lnTo>
                      <a:pt x="0" y="383381"/>
                    </a:lnTo>
                    <a:cubicBezTo>
                      <a:pt x="0" y="420205"/>
                      <a:pt x="29851" y="450056"/>
                      <a:pt x="66675" y="450056"/>
                    </a:cubicBezTo>
                    <a:lnTo>
                      <a:pt x="366712" y="450056"/>
                    </a:lnTo>
                    <a:cubicBezTo>
                      <a:pt x="403536" y="450056"/>
                      <a:pt x="433388" y="420205"/>
                      <a:pt x="433388" y="383381"/>
                    </a:cubicBezTo>
                    <a:lnTo>
                      <a:pt x="433388" y="150019"/>
                    </a:lnTo>
                    <a:cubicBezTo>
                      <a:pt x="433388" y="113195"/>
                      <a:pt x="403536" y="83344"/>
                      <a:pt x="366712" y="83344"/>
                    </a:cubicBezTo>
                    <a:close/>
                    <a:moveTo>
                      <a:pt x="400050" y="383381"/>
                    </a:moveTo>
                    <a:cubicBezTo>
                      <a:pt x="400050" y="401793"/>
                      <a:pt x="385124" y="416719"/>
                      <a:pt x="366712" y="416719"/>
                    </a:cubicBezTo>
                    <a:lnTo>
                      <a:pt x="66675" y="416719"/>
                    </a:lnTo>
                    <a:cubicBezTo>
                      <a:pt x="48263" y="416719"/>
                      <a:pt x="33338" y="401793"/>
                      <a:pt x="33338" y="383381"/>
                    </a:cubicBezTo>
                    <a:lnTo>
                      <a:pt x="33338" y="150019"/>
                    </a:lnTo>
                    <a:cubicBezTo>
                      <a:pt x="33338" y="131607"/>
                      <a:pt x="48263" y="116681"/>
                      <a:pt x="66675" y="116681"/>
                    </a:cubicBezTo>
                    <a:lnTo>
                      <a:pt x="366712" y="116681"/>
                    </a:lnTo>
                    <a:cubicBezTo>
                      <a:pt x="385124" y="116681"/>
                      <a:pt x="400050" y="131607"/>
                      <a:pt x="400050" y="150019"/>
                    </a:cubicBezTo>
                    <a:close/>
                    <a:moveTo>
                      <a:pt x="291703" y="266700"/>
                    </a:moveTo>
                    <a:lnTo>
                      <a:pt x="141684" y="266700"/>
                    </a:lnTo>
                    <a:cubicBezTo>
                      <a:pt x="109464" y="266700"/>
                      <a:pt x="83344" y="292820"/>
                      <a:pt x="83344" y="325041"/>
                    </a:cubicBezTo>
                    <a:cubicBezTo>
                      <a:pt x="83344" y="357261"/>
                      <a:pt x="109464" y="383381"/>
                      <a:pt x="141684" y="383381"/>
                    </a:cubicBezTo>
                    <a:lnTo>
                      <a:pt x="291703" y="383381"/>
                    </a:lnTo>
                    <a:cubicBezTo>
                      <a:pt x="323924" y="383381"/>
                      <a:pt x="350044" y="357261"/>
                      <a:pt x="350044" y="325041"/>
                    </a:cubicBezTo>
                    <a:cubicBezTo>
                      <a:pt x="350044" y="292820"/>
                      <a:pt x="323924" y="266700"/>
                      <a:pt x="291703" y="266700"/>
                    </a:cubicBezTo>
                    <a:close/>
                    <a:moveTo>
                      <a:pt x="233362" y="300038"/>
                    </a:moveTo>
                    <a:lnTo>
                      <a:pt x="233362" y="350044"/>
                    </a:lnTo>
                    <a:lnTo>
                      <a:pt x="200025" y="350044"/>
                    </a:lnTo>
                    <a:lnTo>
                      <a:pt x="200025" y="300038"/>
                    </a:lnTo>
                    <a:close/>
                    <a:moveTo>
                      <a:pt x="116681" y="325041"/>
                    </a:moveTo>
                    <a:cubicBezTo>
                      <a:pt x="116681" y="311232"/>
                      <a:pt x="127876" y="300038"/>
                      <a:pt x="141684" y="300038"/>
                    </a:cubicBezTo>
                    <a:lnTo>
                      <a:pt x="166688" y="300038"/>
                    </a:lnTo>
                    <a:lnTo>
                      <a:pt x="166688" y="350044"/>
                    </a:lnTo>
                    <a:lnTo>
                      <a:pt x="141684" y="350044"/>
                    </a:lnTo>
                    <a:cubicBezTo>
                      <a:pt x="127876" y="350044"/>
                      <a:pt x="116681" y="338849"/>
                      <a:pt x="116681" y="325041"/>
                    </a:cubicBezTo>
                    <a:close/>
                    <a:moveTo>
                      <a:pt x="291703" y="350044"/>
                    </a:moveTo>
                    <a:lnTo>
                      <a:pt x="266700" y="350044"/>
                    </a:lnTo>
                    <a:lnTo>
                      <a:pt x="266700" y="300038"/>
                    </a:lnTo>
                    <a:lnTo>
                      <a:pt x="291703" y="300038"/>
                    </a:lnTo>
                    <a:cubicBezTo>
                      <a:pt x="305512" y="300038"/>
                      <a:pt x="316706" y="311232"/>
                      <a:pt x="316706" y="325041"/>
                    </a:cubicBezTo>
                    <a:cubicBezTo>
                      <a:pt x="316706" y="338849"/>
                      <a:pt x="305512" y="350044"/>
                      <a:pt x="291703" y="350044"/>
                    </a:cubicBezTo>
                    <a:close/>
                    <a:moveTo>
                      <a:pt x="100012" y="208359"/>
                    </a:moveTo>
                    <a:cubicBezTo>
                      <a:pt x="100012" y="194551"/>
                      <a:pt x="111207" y="183356"/>
                      <a:pt x="125016" y="183356"/>
                    </a:cubicBezTo>
                    <a:cubicBezTo>
                      <a:pt x="138824" y="183356"/>
                      <a:pt x="150019" y="194551"/>
                      <a:pt x="150019" y="208359"/>
                    </a:cubicBezTo>
                    <a:cubicBezTo>
                      <a:pt x="150019" y="222168"/>
                      <a:pt x="138824" y="233362"/>
                      <a:pt x="125016" y="233362"/>
                    </a:cubicBezTo>
                    <a:cubicBezTo>
                      <a:pt x="111207" y="233362"/>
                      <a:pt x="100012" y="222168"/>
                      <a:pt x="100012" y="208359"/>
                    </a:cubicBezTo>
                    <a:close/>
                    <a:moveTo>
                      <a:pt x="283369" y="208359"/>
                    </a:moveTo>
                    <a:cubicBezTo>
                      <a:pt x="283369" y="194551"/>
                      <a:pt x="294563" y="183356"/>
                      <a:pt x="308372" y="183356"/>
                    </a:cubicBezTo>
                    <a:cubicBezTo>
                      <a:pt x="322181" y="183356"/>
                      <a:pt x="333375" y="194551"/>
                      <a:pt x="333375" y="208359"/>
                    </a:cubicBezTo>
                    <a:cubicBezTo>
                      <a:pt x="333375" y="222168"/>
                      <a:pt x="322181" y="233362"/>
                      <a:pt x="308372" y="233362"/>
                    </a:cubicBezTo>
                    <a:cubicBezTo>
                      <a:pt x="294563" y="233362"/>
                      <a:pt x="283369" y="222168"/>
                      <a:pt x="283369" y="208359"/>
                    </a:cubicBezTo>
                    <a:close/>
                  </a:path>
                </a:pathLst>
              </a:custGeom>
              <a:solidFill>
                <a:srgbClr val="F7F9FC"/>
              </a:solidFill>
              <a:ln>
                <a:noFill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7436644" y="2640803"/>
              <a:ext cx="366716" cy="433391"/>
              <a:chOff x="7436644" y="2640803"/>
              <a:chExt cx="366716" cy="43339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519988" y="2657475"/>
                <a:ext cx="2667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33375">
                    <a:moveTo>
                      <a:pt x="266700" y="83344"/>
                    </a:moveTo>
                    <a:lnTo>
                      <a:pt x="266700" y="316706"/>
                    </a:lnTo>
                    <a:cubicBezTo>
                      <a:pt x="266700" y="325912"/>
                      <a:pt x="259237" y="333375"/>
                      <a:pt x="250031" y="333375"/>
                    </a:cubicBezTo>
                    <a:lnTo>
                      <a:pt x="200025" y="333375"/>
                    </a:lnTo>
                    <a:lnTo>
                      <a:pt x="200025" y="150019"/>
                    </a:lnTo>
                    <a:lnTo>
                      <a:pt x="116681" y="66675"/>
                    </a:lnTo>
                    <a:lnTo>
                      <a:pt x="0" y="66675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183356" y="0"/>
                    </a:lnTo>
                    <a:close/>
                  </a:path>
                </a:pathLst>
              </a:custGeom>
              <a:solidFill>
                <a:srgbClr val="F7F9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436644" y="2640803"/>
                <a:ext cx="366716" cy="433391"/>
              </a:xfrm>
              <a:custGeom>
                <a:avLst/>
                <a:gdLst/>
                <a:ahLst/>
                <a:cxnLst/>
                <a:rect l="l" t="t" r="r" b="b"/>
                <a:pathLst>
                  <a:path w="366716" h="433391">
                    <a:moveTo>
                      <a:pt x="361837" y="88223"/>
                    </a:moveTo>
                    <a:lnTo>
                      <a:pt x="278493" y="4879"/>
                    </a:lnTo>
                    <a:cubicBezTo>
                      <a:pt x="275364" y="1754"/>
                      <a:pt x="271122" y="0"/>
                      <a:pt x="266700" y="3"/>
                    </a:cubicBezTo>
                    <a:lnTo>
                      <a:pt x="100012" y="3"/>
                    </a:lnTo>
                    <a:cubicBezTo>
                      <a:pt x="81601" y="3"/>
                      <a:pt x="66675" y="14929"/>
                      <a:pt x="66675" y="33341"/>
                    </a:cubicBezTo>
                    <a:lnTo>
                      <a:pt x="66675" y="66678"/>
                    </a:lnTo>
                    <a:lnTo>
                      <a:pt x="33338" y="66678"/>
                    </a:lnTo>
                    <a:cubicBezTo>
                      <a:pt x="14926" y="66678"/>
                      <a:pt x="0" y="81604"/>
                      <a:pt x="0" y="100016"/>
                    </a:cubicBezTo>
                    <a:lnTo>
                      <a:pt x="0" y="400053"/>
                    </a:lnTo>
                    <a:cubicBezTo>
                      <a:pt x="0" y="418465"/>
                      <a:pt x="14926" y="433391"/>
                      <a:pt x="33338" y="433391"/>
                    </a:cubicBezTo>
                    <a:lnTo>
                      <a:pt x="266700" y="433391"/>
                    </a:lnTo>
                    <a:cubicBezTo>
                      <a:pt x="285112" y="433391"/>
                      <a:pt x="300038" y="418465"/>
                      <a:pt x="300038" y="400053"/>
                    </a:cubicBezTo>
                    <a:lnTo>
                      <a:pt x="300038" y="366716"/>
                    </a:lnTo>
                    <a:lnTo>
                      <a:pt x="333375" y="366716"/>
                    </a:lnTo>
                    <a:cubicBezTo>
                      <a:pt x="351787" y="366716"/>
                      <a:pt x="366712" y="351790"/>
                      <a:pt x="366712" y="333378"/>
                    </a:cubicBezTo>
                    <a:lnTo>
                      <a:pt x="366712" y="100016"/>
                    </a:lnTo>
                    <a:cubicBezTo>
                      <a:pt x="366716" y="95594"/>
                      <a:pt x="364962" y="91352"/>
                      <a:pt x="361837" y="88223"/>
                    </a:cubicBezTo>
                    <a:close/>
                    <a:moveTo>
                      <a:pt x="266700" y="400053"/>
                    </a:moveTo>
                    <a:lnTo>
                      <a:pt x="33338" y="400053"/>
                    </a:lnTo>
                    <a:lnTo>
                      <a:pt x="33338" y="100016"/>
                    </a:lnTo>
                    <a:lnTo>
                      <a:pt x="193128" y="100016"/>
                    </a:lnTo>
                    <a:lnTo>
                      <a:pt x="266700" y="173588"/>
                    </a:lnTo>
                    <a:lnTo>
                      <a:pt x="266700" y="349714"/>
                    </a:lnTo>
                    <a:cubicBezTo>
                      <a:pt x="266700" y="349839"/>
                      <a:pt x="266700" y="349943"/>
                      <a:pt x="266700" y="350047"/>
                    </a:cubicBezTo>
                    <a:cubicBezTo>
                      <a:pt x="266700" y="350151"/>
                      <a:pt x="266700" y="350256"/>
                      <a:pt x="266700" y="350381"/>
                    </a:cubicBezTo>
                    <a:lnTo>
                      <a:pt x="266700" y="400053"/>
                    </a:lnTo>
                    <a:close/>
                    <a:moveTo>
                      <a:pt x="333375" y="333378"/>
                    </a:moveTo>
                    <a:lnTo>
                      <a:pt x="300038" y="333378"/>
                    </a:lnTo>
                    <a:lnTo>
                      <a:pt x="300038" y="166691"/>
                    </a:lnTo>
                    <a:cubicBezTo>
                      <a:pt x="300041" y="162269"/>
                      <a:pt x="298287" y="158027"/>
                      <a:pt x="295162" y="154898"/>
                    </a:cubicBezTo>
                    <a:lnTo>
                      <a:pt x="211818" y="71554"/>
                    </a:lnTo>
                    <a:cubicBezTo>
                      <a:pt x="208689" y="68429"/>
                      <a:pt x="204447" y="66675"/>
                      <a:pt x="200025" y="66678"/>
                    </a:cubicBezTo>
                    <a:lnTo>
                      <a:pt x="100012" y="66678"/>
                    </a:lnTo>
                    <a:lnTo>
                      <a:pt x="100012" y="33341"/>
                    </a:lnTo>
                    <a:lnTo>
                      <a:pt x="259803" y="33341"/>
                    </a:lnTo>
                    <a:lnTo>
                      <a:pt x="333375" y="106913"/>
                    </a:lnTo>
                    <a:close/>
                    <a:moveTo>
                      <a:pt x="216694" y="266703"/>
                    </a:moveTo>
                    <a:cubicBezTo>
                      <a:pt x="216694" y="275909"/>
                      <a:pt x="209231" y="283372"/>
                      <a:pt x="200025" y="283372"/>
                    </a:cubicBezTo>
                    <a:lnTo>
                      <a:pt x="100012" y="283372"/>
                    </a:lnTo>
                    <a:cubicBezTo>
                      <a:pt x="90807" y="283372"/>
                      <a:pt x="83344" y="275909"/>
                      <a:pt x="83344" y="266703"/>
                    </a:cubicBezTo>
                    <a:cubicBezTo>
                      <a:pt x="83344" y="257498"/>
                      <a:pt x="90807" y="250035"/>
                      <a:pt x="100012" y="250035"/>
                    </a:cubicBezTo>
                    <a:lnTo>
                      <a:pt x="200025" y="250035"/>
                    </a:lnTo>
                    <a:cubicBezTo>
                      <a:pt x="209231" y="250035"/>
                      <a:pt x="216694" y="257498"/>
                      <a:pt x="216694" y="266703"/>
                    </a:cubicBezTo>
                    <a:close/>
                    <a:moveTo>
                      <a:pt x="216694" y="333378"/>
                    </a:moveTo>
                    <a:cubicBezTo>
                      <a:pt x="216694" y="342584"/>
                      <a:pt x="209231" y="350047"/>
                      <a:pt x="200025" y="350047"/>
                    </a:cubicBezTo>
                    <a:lnTo>
                      <a:pt x="100012" y="350047"/>
                    </a:lnTo>
                    <a:cubicBezTo>
                      <a:pt x="90807" y="350047"/>
                      <a:pt x="83344" y="342584"/>
                      <a:pt x="83344" y="333378"/>
                    </a:cubicBezTo>
                    <a:cubicBezTo>
                      <a:pt x="83344" y="324173"/>
                      <a:pt x="90807" y="316710"/>
                      <a:pt x="100012" y="316710"/>
                    </a:cubicBezTo>
                    <a:lnTo>
                      <a:pt x="200025" y="316710"/>
                    </a:lnTo>
                    <a:cubicBezTo>
                      <a:pt x="209231" y="316710"/>
                      <a:pt x="216694" y="324173"/>
                      <a:pt x="216694" y="333378"/>
                    </a:cubicBezTo>
                    <a:close/>
                  </a:path>
                </a:pathLst>
              </a:custGeom>
              <a:solidFill>
                <a:srgbClr val="F7F9FC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10275837" y="2672506"/>
              <a:ext cx="401688" cy="368363"/>
              <a:chOff x="10275837" y="2672506"/>
              <a:chExt cx="401688" cy="36836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477500" y="2724150"/>
                <a:ext cx="183356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266700">
                    <a:moveTo>
                      <a:pt x="183356" y="0"/>
                    </a:moveTo>
                    <a:lnTo>
                      <a:pt x="183356" y="266700"/>
                    </a:lnTo>
                    <a:lnTo>
                      <a:pt x="0" y="2667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7F9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275837" y="2672506"/>
                <a:ext cx="401688" cy="368363"/>
              </a:xfrm>
              <a:custGeom>
                <a:avLst/>
                <a:gdLst/>
                <a:ahLst/>
                <a:cxnLst/>
                <a:rect l="l" t="t" r="r" b="b"/>
                <a:pathLst>
                  <a:path w="401688" h="368363">
                    <a:moveTo>
                      <a:pt x="401688" y="184994"/>
                    </a:moveTo>
                    <a:cubicBezTo>
                      <a:pt x="401688" y="194200"/>
                      <a:pt x="394225" y="201663"/>
                      <a:pt x="385019" y="201663"/>
                    </a:cubicBezTo>
                    <a:lnTo>
                      <a:pt x="201663" y="201663"/>
                    </a:lnTo>
                    <a:cubicBezTo>
                      <a:pt x="192457" y="201663"/>
                      <a:pt x="184994" y="194200"/>
                      <a:pt x="184994" y="184994"/>
                    </a:cubicBezTo>
                    <a:cubicBezTo>
                      <a:pt x="184994" y="175788"/>
                      <a:pt x="192457" y="168325"/>
                      <a:pt x="201663" y="168325"/>
                    </a:cubicBezTo>
                    <a:lnTo>
                      <a:pt x="385019" y="168325"/>
                    </a:lnTo>
                    <a:cubicBezTo>
                      <a:pt x="394225" y="168325"/>
                      <a:pt x="401688" y="175788"/>
                      <a:pt x="401688" y="184994"/>
                    </a:cubicBezTo>
                    <a:close/>
                    <a:moveTo>
                      <a:pt x="201663" y="68313"/>
                    </a:moveTo>
                    <a:lnTo>
                      <a:pt x="385019" y="68313"/>
                    </a:lnTo>
                    <a:cubicBezTo>
                      <a:pt x="394225" y="68313"/>
                      <a:pt x="401688" y="60850"/>
                      <a:pt x="401688" y="51644"/>
                    </a:cubicBezTo>
                    <a:cubicBezTo>
                      <a:pt x="401688" y="42438"/>
                      <a:pt x="394225" y="34975"/>
                      <a:pt x="385019" y="34975"/>
                    </a:cubicBezTo>
                    <a:lnTo>
                      <a:pt x="201663" y="34975"/>
                    </a:lnTo>
                    <a:cubicBezTo>
                      <a:pt x="192457" y="34975"/>
                      <a:pt x="184994" y="42438"/>
                      <a:pt x="184994" y="51644"/>
                    </a:cubicBezTo>
                    <a:cubicBezTo>
                      <a:pt x="184994" y="60850"/>
                      <a:pt x="192457" y="68313"/>
                      <a:pt x="201663" y="68313"/>
                    </a:cubicBezTo>
                    <a:close/>
                    <a:moveTo>
                      <a:pt x="385019" y="301675"/>
                    </a:moveTo>
                    <a:lnTo>
                      <a:pt x="201663" y="301675"/>
                    </a:lnTo>
                    <a:cubicBezTo>
                      <a:pt x="192457" y="301675"/>
                      <a:pt x="184994" y="309138"/>
                      <a:pt x="184994" y="318344"/>
                    </a:cubicBezTo>
                    <a:cubicBezTo>
                      <a:pt x="184994" y="327550"/>
                      <a:pt x="192457" y="335013"/>
                      <a:pt x="201663" y="335013"/>
                    </a:cubicBezTo>
                    <a:lnTo>
                      <a:pt x="385019" y="335013"/>
                    </a:lnTo>
                    <a:cubicBezTo>
                      <a:pt x="394225" y="335013"/>
                      <a:pt x="401688" y="327550"/>
                      <a:pt x="401688" y="318344"/>
                    </a:cubicBezTo>
                    <a:cubicBezTo>
                      <a:pt x="401688" y="309138"/>
                      <a:pt x="394225" y="301675"/>
                      <a:pt x="385019" y="301675"/>
                    </a:cubicBezTo>
                    <a:close/>
                    <a:moveTo>
                      <a:pt x="106526" y="6513"/>
                    </a:moveTo>
                    <a:lnTo>
                      <a:pt x="51644" y="61416"/>
                    </a:lnTo>
                    <a:lnTo>
                      <a:pt x="30099" y="39851"/>
                    </a:lnTo>
                    <a:cubicBezTo>
                      <a:pt x="23586" y="33338"/>
                      <a:pt x="13026" y="33338"/>
                      <a:pt x="6513" y="39851"/>
                    </a:cubicBezTo>
                    <a:cubicBezTo>
                      <a:pt x="0" y="46364"/>
                      <a:pt x="0" y="56924"/>
                      <a:pt x="6513" y="63437"/>
                    </a:cubicBezTo>
                    <a:lnTo>
                      <a:pt x="39851" y="96774"/>
                    </a:lnTo>
                    <a:cubicBezTo>
                      <a:pt x="42977" y="99904"/>
                      <a:pt x="47220" y="101663"/>
                      <a:pt x="51644" y="101663"/>
                    </a:cubicBezTo>
                    <a:cubicBezTo>
                      <a:pt x="56068" y="101663"/>
                      <a:pt x="60310" y="99904"/>
                      <a:pt x="63437" y="96774"/>
                    </a:cubicBezTo>
                    <a:lnTo>
                      <a:pt x="130112" y="30099"/>
                    </a:lnTo>
                    <a:cubicBezTo>
                      <a:pt x="136625" y="23586"/>
                      <a:pt x="136625" y="13026"/>
                      <a:pt x="130112" y="6513"/>
                    </a:cubicBezTo>
                    <a:cubicBezTo>
                      <a:pt x="123599" y="0"/>
                      <a:pt x="113039" y="0"/>
                      <a:pt x="106526" y="6513"/>
                    </a:cubicBezTo>
                    <a:close/>
                    <a:moveTo>
                      <a:pt x="106526" y="139863"/>
                    </a:moveTo>
                    <a:lnTo>
                      <a:pt x="51644" y="194766"/>
                    </a:lnTo>
                    <a:lnTo>
                      <a:pt x="30099" y="173201"/>
                    </a:lnTo>
                    <a:cubicBezTo>
                      <a:pt x="23586" y="166688"/>
                      <a:pt x="13026" y="166688"/>
                      <a:pt x="6513" y="173201"/>
                    </a:cubicBezTo>
                    <a:cubicBezTo>
                      <a:pt x="0" y="179714"/>
                      <a:pt x="0" y="190274"/>
                      <a:pt x="6513" y="196787"/>
                    </a:cubicBezTo>
                    <a:lnTo>
                      <a:pt x="39851" y="230124"/>
                    </a:lnTo>
                    <a:cubicBezTo>
                      <a:pt x="42977" y="233254"/>
                      <a:pt x="47220" y="235013"/>
                      <a:pt x="51644" y="235013"/>
                    </a:cubicBezTo>
                    <a:cubicBezTo>
                      <a:pt x="56068" y="235013"/>
                      <a:pt x="60310" y="233254"/>
                      <a:pt x="63437" y="230124"/>
                    </a:cubicBezTo>
                    <a:lnTo>
                      <a:pt x="130112" y="163449"/>
                    </a:lnTo>
                    <a:cubicBezTo>
                      <a:pt x="136625" y="156936"/>
                      <a:pt x="136625" y="146376"/>
                      <a:pt x="130112" y="139863"/>
                    </a:cubicBezTo>
                    <a:cubicBezTo>
                      <a:pt x="123599" y="133350"/>
                      <a:pt x="113039" y="133350"/>
                      <a:pt x="106526" y="139863"/>
                    </a:cubicBezTo>
                    <a:close/>
                    <a:moveTo>
                      <a:pt x="106526" y="273213"/>
                    </a:moveTo>
                    <a:lnTo>
                      <a:pt x="51644" y="328116"/>
                    </a:lnTo>
                    <a:lnTo>
                      <a:pt x="30099" y="306551"/>
                    </a:lnTo>
                    <a:cubicBezTo>
                      <a:pt x="23586" y="300038"/>
                      <a:pt x="13026" y="300038"/>
                      <a:pt x="6513" y="306551"/>
                    </a:cubicBezTo>
                    <a:cubicBezTo>
                      <a:pt x="0" y="313064"/>
                      <a:pt x="0" y="323624"/>
                      <a:pt x="6513" y="330137"/>
                    </a:cubicBezTo>
                    <a:lnTo>
                      <a:pt x="39851" y="363474"/>
                    </a:lnTo>
                    <a:cubicBezTo>
                      <a:pt x="42977" y="366604"/>
                      <a:pt x="47220" y="368363"/>
                      <a:pt x="51644" y="368363"/>
                    </a:cubicBezTo>
                    <a:cubicBezTo>
                      <a:pt x="56068" y="368363"/>
                      <a:pt x="60310" y="366604"/>
                      <a:pt x="63437" y="363474"/>
                    </a:cubicBezTo>
                    <a:lnTo>
                      <a:pt x="130112" y="296799"/>
                    </a:lnTo>
                    <a:cubicBezTo>
                      <a:pt x="136625" y="290286"/>
                      <a:pt x="136625" y="279726"/>
                      <a:pt x="130112" y="273213"/>
                    </a:cubicBezTo>
                    <a:cubicBezTo>
                      <a:pt x="123599" y="266700"/>
                      <a:pt x="113039" y="266700"/>
                      <a:pt x="106526" y="273213"/>
                    </a:cubicBezTo>
                    <a:close/>
                  </a:path>
                </a:pathLst>
              </a:custGeom>
              <a:solidFill>
                <a:srgbClr val="F7F9FC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70684" y="3551872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查制度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28184" y="3551872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问助手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49167" y="35518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智能预填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70150" y="3551872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提交与跟踪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19250" y="4762500"/>
            <a:ext cx="8953500" cy="876300"/>
            <a:chOff x="1619250" y="4762500"/>
            <a:chExt cx="8953500" cy="876300"/>
          </a:xfrm>
        </p:grpSpPr>
        <p:sp>
          <p:nvSpPr>
            <p:cNvPr id="28" name="Rectangle 28"/>
            <p:cNvSpPr/>
            <p:nvPr/>
          </p:nvSpPr>
          <p:spPr>
            <a:xfrm>
              <a:off x="1619250" y="4762500"/>
              <a:ext cx="8953500" cy="876300"/>
            </a:xfrm>
            <a:prstGeom prst="roundRect">
              <a:avLst>
                <a:gd name="adj" fmla="val 8696"/>
              </a:avLst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12795" y="5101590"/>
              <a:ext cx="5566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6212E"/>
                  </a:solidFill>
                  <a:latin typeface="Arial"/>
                  <a:ea typeface="Microsoft YaHei"/>
                  <a:cs typeface="Arial"/>
                </a:rPr>
                <a:t>四类角色按权限获得不同的工作台、待办与可用功能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997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B6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419100"/>
            <a:ext cx="7973187" cy="795338"/>
            <a:chOff x="495300" y="419100"/>
            <a:chExt cx="7973187" cy="795338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419100"/>
              <a:ext cx="797318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鸿蒙端分层：ArkTS + ArkUI + Repository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6255" y="940118"/>
              <a:ext cx="50389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页面与数据源解耦，支持从本地 Mock 到 HTTP 后端的平滑切换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6750" y="1809750"/>
            <a:ext cx="10096500" cy="2381250"/>
            <a:chOff x="666750" y="1809750"/>
            <a:chExt cx="10096500" cy="2381250"/>
          </a:xfrm>
        </p:grpSpPr>
        <p:sp>
          <p:nvSpPr>
            <p:cNvPr id="6" name="Rectangle 6"/>
            <p:cNvSpPr/>
            <p:nvPr/>
          </p:nvSpPr>
          <p:spPr>
            <a:xfrm>
              <a:off x="666750" y="1809750"/>
              <a:ext cx="2095500" cy="2381250"/>
            </a:xfrm>
            <a:prstGeom prst="roundRect">
              <a:avLst>
                <a:gd name="adj" fmla="val 3636"/>
              </a:avLst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333750" y="1809750"/>
              <a:ext cx="2095500" cy="2381250"/>
            </a:xfrm>
            <a:prstGeom prst="roundRect">
              <a:avLst>
                <a:gd name="adj" fmla="val 3636"/>
              </a:avLst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00750" y="1809750"/>
              <a:ext cx="2095500" cy="2381250"/>
            </a:xfrm>
            <a:prstGeom prst="roundRect">
              <a:avLst>
                <a:gd name="adj" fmla="val 3636"/>
              </a:avLst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667750" y="1809750"/>
              <a:ext cx="2095500" cy="2381250"/>
            </a:xfrm>
            <a:prstGeom prst="roundRect">
              <a:avLst>
                <a:gd name="adj" fmla="val 3636"/>
              </a:avLst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1282" y="2249805"/>
              <a:ext cx="162643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HarmonyOS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5370" y="2743200"/>
              <a:ext cx="13182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ArkTS · ArkUI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88809" y="2249805"/>
              <a:ext cx="11853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UseCase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37384" y="2743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Repository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48458" y="2249805"/>
              <a:ext cx="12000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REST API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09360" y="2743200"/>
              <a:ext cx="14782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NestJS Service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65390" y="22498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Data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31354" y="2743200"/>
              <a:ext cx="15682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Prisma · SQLite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762250" y="300037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47625">
              <a:solidFill>
                <a:srgbClr val="E63B4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429250" y="300037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47625">
              <a:solidFill>
                <a:srgbClr val="E63B4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8096250" y="300037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47625">
              <a:solidFill>
                <a:srgbClr val="E63B46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26294" y="5033367"/>
            <a:ext cx="9134522" cy="410171"/>
            <a:chOff x="826294" y="5033367"/>
            <a:chExt cx="9134522" cy="410171"/>
          </a:xfrm>
        </p:grpSpPr>
        <p:grpSp>
          <p:nvGrpSpPr>
            <p:cNvPr id="24" name="Group 24"/>
            <p:cNvGrpSpPr/>
            <p:nvPr/>
          </p:nvGrpSpPr>
          <p:grpSpPr>
            <a:xfrm>
              <a:off x="826294" y="5033367"/>
              <a:ext cx="385762" cy="402384"/>
              <a:chOff x="826294" y="5033367"/>
              <a:chExt cx="385762" cy="40238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42367" y="5049441"/>
                <a:ext cx="353616" cy="369930"/>
              </a:xfrm>
              <a:custGeom>
                <a:avLst/>
                <a:gdLst/>
                <a:ahLst/>
                <a:cxnLst/>
                <a:rect l="l" t="t" r="r" b="b"/>
                <a:pathLst>
                  <a:path w="353616" h="369930">
                    <a:moveTo>
                      <a:pt x="353616" y="16073"/>
                    </a:moveTo>
                    <a:lnTo>
                      <a:pt x="353616" y="134153"/>
                    </a:lnTo>
                    <a:cubicBezTo>
                      <a:pt x="353616" y="303286"/>
                      <a:pt x="210341" y="359322"/>
                      <a:pt x="181750" y="368825"/>
                    </a:cubicBezTo>
                    <a:cubicBezTo>
                      <a:pt x="178548" y="369930"/>
                      <a:pt x="175068" y="369930"/>
                      <a:pt x="171865" y="368825"/>
                    </a:cubicBezTo>
                    <a:cubicBezTo>
                      <a:pt x="143275" y="359362"/>
                      <a:pt x="0" y="303386"/>
                      <a:pt x="0" y="134193"/>
                    </a:cubicBezTo>
                    <a:lnTo>
                      <a:pt x="0" y="16073"/>
                    </a:lnTo>
                    <a:cubicBezTo>
                      <a:pt x="0" y="7196"/>
                      <a:pt x="7196" y="0"/>
                      <a:pt x="16073" y="0"/>
                    </a:cubicBezTo>
                    <a:lnTo>
                      <a:pt x="337542" y="0"/>
                    </a:lnTo>
                    <a:cubicBezTo>
                      <a:pt x="346419" y="0"/>
                      <a:pt x="353616" y="7196"/>
                      <a:pt x="353616" y="16073"/>
                    </a:cubicBezTo>
                    <a:close/>
                  </a:path>
                </a:pathLst>
              </a:custGeom>
              <a:solidFill>
                <a:srgbClr val="18A38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6294" y="5033367"/>
                <a:ext cx="385762" cy="402384"/>
              </a:xfrm>
              <a:custGeom>
                <a:avLst/>
                <a:gdLst/>
                <a:ahLst/>
                <a:cxnLst/>
                <a:rect l="l" t="t" r="r" b="b"/>
                <a:pathLst>
                  <a:path w="385762" h="402384">
                    <a:moveTo>
                      <a:pt x="353616" y="0"/>
                    </a:move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150246"/>
                    </a:lnTo>
                    <a:cubicBezTo>
                      <a:pt x="0" y="330289"/>
                      <a:pt x="152336" y="390022"/>
                      <a:pt x="182835" y="400168"/>
                    </a:cubicBezTo>
                    <a:cubicBezTo>
                      <a:pt x="189349" y="402384"/>
                      <a:pt x="196413" y="402384"/>
                      <a:pt x="202927" y="400168"/>
                    </a:cubicBezTo>
                    <a:cubicBezTo>
                      <a:pt x="233467" y="390022"/>
                      <a:pt x="385762" y="330289"/>
                      <a:pt x="385762" y="150246"/>
                    </a:cubicBezTo>
                    <a:lnTo>
                      <a:pt x="385762" y="32147"/>
                    </a:lnTo>
                    <a:cubicBezTo>
                      <a:pt x="385762" y="14393"/>
                      <a:pt x="371370" y="0"/>
                      <a:pt x="353616" y="0"/>
                    </a:cubicBezTo>
                    <a:close/>
                    <a:moveTo>
                      <a:pt x="353616" y="150267"/>
                    </a:moveTo>
                    <a:cubicBezTo>
                      <a:pt x="353616" y="307826"/>
                      <a:pt x="220307" y="360467"/>
                      <a:pt x="192881" y="369629"/>
                    </a:cubicBezTo>
                    <a:cubicBezTo>
                      <a:pt x="165697" y="360567"/>
                      <a:pt x="32147" y="307967"/>
                      <a:pt x="32147" y="150267"/>
                    </a:cubicBezTo>
                    <a:lnTo>
                      <a:pt x="32147" y="32147"/>
                    </a:lnTo>
                    <a:lnTo>
                      <a:pt x="353616" y="32147"/>
                    </a:lnTo>
                    <a:close/>
                    <a:moveTo>
                      <a:pt x="101142" y="204253"/>
                    </a:moveTo>
                    <a:cubicBezTo>
                      <a:pt x="94862" y="197973"/>
                      <a:pt x="94862" y="187790"/>
                      <a:pt x="101142" y="181509"/>
                    </a:cubicBezTo>
                    <a:cubicBezTo>
                      <a:pt x="107423" y="175229"/>
                      <a:pt x="117605" y="175229"/>
                      <a:pt x="123886" y="181509"/>
                    </a:cubicBezTo>
                    <a:lnTo>
                      <a:pt x="160734" y="218358"/>
                    </a:lnTo>
                    <a:lnTo>
                      <a:pt x="261876" y="117216"/>
                    </a:lnTo>
                    <a:cubicBezTo>
                      <a:pt x="268157" y="110935"/>
                      <a:pt x="278340" y="110935"/>
                      <a:pt x="284620" y="117216"/>
                    </a:cubicBezTo>
                    <a:cubicBezTo>
                      <a:pt x="290901" y="123496"/>
                      <a:pt x="290901" y="133679"/>
                      <a:pt x="284620" y="139959"/>
                    </a:cubicBezTo>
                    <a:lnTo>
                      <a:pt x="172106" y="252474"/>
                    </a:lnTo>
                    <a:cubicBezTo>
                      <a:pt x="169091" y="255492"/>
                      <a:pt x="165000" y="257188"/>
                      <a:pt x="160734" y="257188"/>
                    </a:cubicBezTo>
                    <a:cubicBezTo>
                      <a:pt x="156468" y="257188"/>
                      <a:pt x="152377" y="255492"/>
                      <a:pt x="149362" y="252474"/>
                    </a:cubicBezTo>
                    <a:close/>
                  </a:path>
                </a:pathLst>
              </a:custGeom>
              <a:solidFill>
                <a:srgbClr val="18A38A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99235" y="5047298"/>
              <a:ext cx="846158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Token 鉴权 + 统一 code-message-data 响应，让端侧交互保持可预测。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0F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63B46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5790" y="821055"/>
            <a:ext cx="5628513" cy="1588770"/>
            <a:chOff x="605790" y="821055"/>
            <a:chExt cx="5628513" cy="1588770"/>
          </a:xfrm>
        </p:grpSpPr>
        <p:sp>
          <p:nvSpPr>
            <p:cNvPr id="4" name="TextBox 4"/>
            <p:cNvSpPr txBox="1"/>
            <p:nvPr/>
          </p:nvSpPr>
          <p:spPr>
            <a:xfrm>
              <a:off x="640080" y="821055"/>
              <a:ext cx="20135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63B46"/>
                  </a:solidFill>
                  <a:latin typeface="Arial"/>
                  <a:ea typeface="Microsoft YaHei"/>
                  <a:cs typeface="Arial"/>
                </a:rPr>
                <a:t>邢思琦负责模块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5790" y="1291590"/>
              <a:ext cx="482650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名称与图标设计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3890" y="2044065"/>
              <a:ext cx="55904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将“白泽”的文化意象转译为企业知识理解与决策辅助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86625" y="1666875"/>
            <a:ext cx="2952750" cy="3729037"/>
            <a:chOff x="7286625" y="1666875"/>
            <a:chExt cx="2952750" cy="3729037"/>
          </a:xfrm>
        </p:grpSpPr>
        <p:sp>
          <p:nvSpPr>
            <p:cNvPr id="8" name="Ellipse 8"/>
            <p:cNvSpPr/>
            <p:nvPr/>
          </p:nvSpPr>
          <p:spPr>
            <a:xfrm>
              <a:off x="7286625" y="1666875"/>
              <a:ext cx="2952750" cy="2952750"/>
            </a:xfrm>
            <a:prstGeom prst="ellipse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696200" y="2076450"/>
              <a:ext cx="2133600" cy="2133600"/>
            </a:xfrm>
            <a:prstGeom prst="ellipse">
              <a:avLst/>
            </a:prstGeom>
            <a:solidFill>
              <a:srgbClr val="123B63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179594" y="2726531"/>
              <a:ext cx="1166812" cy="1000125"/>
              <a:chOff x="8179594" y="2726531"/>
              <a:chExt cx="1166812" cy="10001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221266" y="2768203"/>
                <a:ext cx="1083469" cy="916781"/>
              </a:xfrm>
              <a:custGeom>
                <a:avLst/>
                <a:gdLst/>
                <a:ahLst/>
                <a:cxnLst/>
                <a:rect l="l" t="t" r="r" b="b"/>
                <a:pathLst>
                  <a:path w="1083469" h="916781">
                    <a:moveTo>
                      <a:pt x="1083469" y="41672"/>
                    </a:moveTo>
                    <a:lnTo>
                      <a:pt x="1083469" y="708422"/>
                    </a:lnTo>
                    <a:cubicBezTo>
                      <a:pt x="1083469" y="731437"/>
                      <a:pt x="1064812" y="750094"/>
                      <a:pt x="1041797" y="750094"/>
                    </a:cubicBezTo>
                    <a:lnTo>
                      <a:pt x="708422" y="750094"/>
                    </a:lnTo>
                    <a:cubicBezTo>
                      <a:pt x="616363" y="750094"/>
                      <a:pt x="541734" y="824722"/>
                      <a:pt x="541734" y="916781"/>
                    </a:cubicBezTo>
                    <a:cubicBezTo>
                      <a:pt x="541734" y="824722"/>
                      <a:pt x="467106" y="750094"/>
                      <a:pt x="375047" y="750094"/>
                    </a:cubicBezTo>
                    <a:lnTo>
                      <a:pt x="41672" y="750094"/>
                    </a:lnTo>
                    <a:cubicBezTo>
                      <a:pt x="18657" y="750094"/>
                      <a:pt x="0" y="731437"/>
                      <a:pt x="0" y="708422"/>
                    </a:cubicBez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lnTo>
                      <a:pt x="375047" y="0"/>
                    </a:lnTo>
                    <a:cubicBezTo>
                      <a:pt x="467106" y="0"/>
                      <a:pt x="541734" y="74629"/>
                      <a:pt x="541734" y="166688"/>
                    </a:cubicBezTo>
                    <a:cubicBezTo>
                      <a:pt x="541734" y="74629"/>
                      <a:pt x="616363" y="0"/>
                      <a:pt x="708422" y="0"/>
                    </a:cubicBezTo>
                    <a:lnTo>
                      <a:pt x="1041797" y="0"/>
                    </a:lnTo>
                    <a:cubicBezTo>
                      <a:pt x="1064812" y="0"/>
                      <a:pt x="1083469" y="18657"/>
                      <a:pt x="1083469" y="41672"/>
                    </a:cubicBezTo>
                    <a:close/>
                  </a:path>
                </a:pathLst>
              </a:custGeom>
              <a:solidFill>
                <a:srgbClr val="F7F9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179594" y="2726531"/>
                <a:ext cx="1166812" cy="1000125"/>
              </a:xfrm>
              <a:custGeom>
                <a:avLst/>
                <a:gdLst/>
                <a:ahLst/>
                <a:cxnLst/>
                <a:rect l="l" t="t" r="r" b="b"/>
                <a:pathLst>
                  <a:path w="1166812" h="1000125">
                    <a:moveTo>
                      <a:pt x="1083469" y="0"/>
                    </a:moveTo>
                    <a:lnTo>
                      <a:pt x="750094" y="0"/>
                    </a:lnTo>
                    <a:cubicBezTo>
                      <a:pt x="684511" y="0"/>
                      <a:pt x="622756" y="30878"/>
                      <a:pt x="583406" y="83344"/>
                    </a:cubicBezTo>
                    <a:cubicBezTo>
                      <a:pt x="544057" y="30878"/>
                      <a:pt x="482301" y="0"/>
                      <a:pt x="416719" y="0"/>
                    </a:cubicBezTo>
                    <a:lnTo>
                      <a:pt x="83344" y="0"/>
                    </a:lnTo>
                    <a:cubicBezTo>
                      <a:pt x="37314" y="0"/>
                      <a:pt x="0" y="37314"/>
                      <a:pt x="0" y="83344"/>
                    </a:cubicBezTo>
                    <a:lnTo>
                      <a:pt x="0" y="750094"/>
                    </a:lnTo>
                    <a:cubicBezTo>
                      <a:pt x="0" y="796123"/>
                      <a:pt x="37314" y="833438"/>
                      <a:pt x="83344" y="833438"/>
                    </a:cubicBezTo>
                    <a:lnTo>
                      <a:pt x="416719" y="833438"/>
                    </a:lnTo>
                    <a:cubicBezTo>
                      <a:pt x="485763" y="833438"/>
                      <a:pt x="541734" y="889409"/>
                      <a:pt x="541734" y="958453"/>
                    </a:cubicBezTo>
                    <a:cubicBezTo>
                      <a:pt x="541734" y="981468"/>
                      <a:pt x="560392" y="1000125"/>
                      <a:pt x="583406" y="1000125"/>
                    </a:cubicBezTo>
                    <a:cubicBezTo>
                      <a:pt x="606421" y="1000125"/>
                      <a:pt x="625078" y="981468"/>
                      <a:pt x="625078" y="958453"/>
                    </a:cubicBezTo>
                    <a:cubicBezTo>
                      <a:pt x="625078" y="889409"/>
                      <a:pt x="681050" y="833438"/>
                      <a:pt x="750094" y="833438"/>
                    </a:cubicBezTo>
                    <a:lnTo>
                      <a:pt x="1083469" y="833438"/>
                    </a:lnTo>
                    <a:cubicBezTo>
                      <a:pt x="1129498" y="833438"/>
                      <a:pt x="1166812" y="796123"/>
                      <a:pt x="1166812" y="750094"/>
                    </a:cubicBezTo>
                    <a:lnTo>
                      <a:pt x="1166812" y="83344"/>
                    </a:lnTo>
                    <a:cubicBezTo>
                      <a:pt x="1166812" y="37314"/>
                      <a:pt x="1129498" y="0"/>
                      <a:pt x="1083469" y="0"/>
                    </a:cubicBezTo>
                    <a:close/>
                    <a:moveTo>
                      <a:pt x="416719" y="750094"/>
                    </a:moveTo>
                    <a:lnTo>
                      <a:pt x="83344" y="750094"/>
                    </a:lnTo>
                    <a:lnTo>
                      <a:pt x="83344" y="83344"/>
                    </a:lnTo>
                    <a:lnTo>
                      <a:pt x="416719" y="83344"/>
                    </a:lnTo>
                    <a:cubicBezTo>
                      <a:pt x="485763" y="83344"/>
                      <a:pt x="541734" y="139315"/>
                      <a:pt x="541734" y="208359"/>
                    </a:cubicBezTo>
                    <a:lnTo>
                      <a:pt x="541734" y="791766"/>
                    </a:lnTo>
                    <a:cubicBezTo>
                      <a:pt x="505702" y="764652"/>
                      <a:pt x="461813" y="750022"/>
                      <a:pt x="416719" y="750094"/>
                    </a:cubicBezTo>
                    <a:close/>
                    <a:moveTo>
                      <a:pt x="1083469" y="750094"/>
                    </a:moveTo>
                    <a:lnTo>
                      <a:pt x="750094" y="750094"/>
                    </a:lnTo>
                    <a:cubicBezTo>
                      <a:pt x="704999" y="750022"/>
                      <a:pt x="661111" y="764652"/>
                      <a:pt x="625078" y="791766"/>
                    </a:cubicBezTo>
                    <a:lnTo>
                      <a:pt x="625078" y="208359"/>
                    </a:lnTo>
                    <a:cubicBezTo>
                      <a:pt x="625078" y="139315"/>
                      <a:pt x="681050" y="83344"/>
                      <a:pt x="750094" y="83344"/>
                    </a:cubicBezTo>
                    <a:lnTo>
                      <a:pt x="1083469" y="83344"/>
                    </a:lnTo>
                    <a:close/>
                  </a:path>
                </a:pathLst>
              </a:custGeom>
              <a:solidFill>
                <a:srgbClr val="F7F9FC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281940" y="4755832"/>
              <a:ext cx="9621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白泽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3925" y="3471862"/>
            <a:ext cx="4029075" cy="1981200"/>
            <a:chOff x="923925" y="3471862"/>
            <a:chExt cx="4029075" cy="1981200"/>
          </a:xfrm>
        </p:grpSpPr>
        <p:sp>
          <p:nvSpPr>
            <p:cNvPr id="15" name="TextBox 15"/>
            <p:cNvSpPr txBox="1"/>
            <p:nvPr/>
          </p:nvSpPr>
          <p:spPr>
            <a:xfrm>
              <a:off x="923925" y="347186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识别知识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52500" y="3952875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rgbClr val="D7E0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3925" y="423386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推荐流程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4714875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rgbClr val="D7E0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3925" y="499586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提示风险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99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2691" y="419100"/>
            <a:ext cx="6871097" cy="776288"/>
            <a:chOff x="572691" y="419100"/>
            <a:chExt cx="6871097" cy="776288"/>
          </a:xfrm>
        </p:grpSpPr>
        <p:grpSp>
          <p:nvGrpSpPr>
            <p:cNvPr id="5" name="Group 5"/>
            <p:cNvGrpSpPr/>
            <p:nvPr/>
          </p:nvGrpSpPr>
          <p:grpSpPr>
            <a:xfrm>
              <a:off x="572691" y="497681"/>
              <a:ext cx="340519" cy="261938"/>
              <a:chOff x="572691" y="497681"/>
              <a:chExt cx="340519" cy="261938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585788" y="510778"/>
                <a:ext cx="314325" cy="144066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144066">
                    <a:moveTo>
                      <a:pt x="314325" y="0"/>
                    </a:moveTo>
                    <a:lnTo>
                      <a:pt x="157162" y="1440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3B4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72691" y="497681"/>
                <a:ext cx="340519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261938">
                    <a:moveTo>
                      <a:pt x="327422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235744"/>
                    </a:lnTo>
                    <a:cubicBezTo>
                      <a:pt x="0" y="250210"/>
                      <a:pt x="11727" y="261938"/>
                      <a:pt x="26194" y="261938"/>
                    </a:cubicBezTo>
                    <a:lnTo>
                      <a:pt x="314325" y="261938"/>
                    </a:lnTo>
                    <a:cubicBezTo>
                      <a:pt x="328791" y="261938"/>
                      <a:pt x="340519" y="250210"/>
                      <a:pt x="340519" y="235744"/>
                    </a:cubicBezTo>
                    <a:lnTo>
                      <a:pt x="340519" y="13097"/>
                    </a:lnTo>
                    <a:cubicBezTo>
                      <a:pt x="340519" y="5864"/>
                      <a:pt x="334655" y="0"/>
                      <a:pt x="327422" y="0"/>
                    </a:cubicBezTo>
                    <a:close/>
                    <a:moveTo>
                      <a:pt x="170259" y="139400"/>
                    </a:moveTo>
                    <a:lnTo>
                      <a:pt x="46772" y="26194"/>
                    </a:lnTo>
                    <a:lnTo>
                      <a:pt x="293747" y="26194"/>
                    </a:lnTo>
                    <a:close/>
                    <a:moveTo>
                      <a:pt x="122308" y="130969"/>
                    </a:moveTo>
                    <a:lnTo>
                      <a:pt x="26194" y="219062"/>
                    </a:lnTo>
                    <a:lnTo>
                      <a:pt x="26194" y="42876"/>
                    </a:lnTo>
                    <a:close/>
                    <a:moveTo>
                      <a:pt x="141692" y="148731"/>
                    </a:moveTo>
                    <a:lnTo>
                      <a:pt x="161337" y="166821"/>
                    </a:lnTo>
                    <a:cubicBezTo>
                      <a:pt x="166346" y="171420"/>
                      <a:pt x="174041" y="171420"/>
                      <a:pt x="179051" y="166821"/>
                    </a:cubicBezTo>
                    <a:lnTo>
                      <a:pt x="198696" y="148731"/>
                    </a:lnTo>
                    <a:lnTo>
                      <a:pt x="293648" y="235744"/>
                    </a:lnTo>
                    <a:lnTo>
                      <a:pt x="46772" y="235744"/>
                    </a:lnTo>
                    <a:close/>
                    <a:moveTo>
                      <a:pt x="218210" y="130969"/>
                    </a:moveTo>
                    <a:lnTo>
                      <a:pt x="314325" y="42860"/>
                    </a:lnTo>
                    <a:lnTo>
                      <a:pt x="314325" y="219078"/>
                    </a:lnTo>
                    <a:close/>
                  </a:path>
                </a:pathLst>
              </a:custGeom>
              <a:solidFill>
                <a:srgbClr val="E63B46"/>
              </a:solidFill>
              <a:ln>
                <a:noFill/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066800" y="41910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内部邮件：从消息接收到业务关联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7755" y="9210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收件箱与写邮件页面将知识、流程上下文带入沟通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4000" y="1524000"/>
            <a:ext cx="7905750" cy="5081588"/>
            <a:chOff x="1524000" y="1524000"/>
            <a:chExt cx="7905750" cy="5081588"/>
          </a:xfrm>
        </p:grpSpPr>
        <p:sp>
          <p:nvSpPr>
            <p:cNvPr id="9" name="Rectangle 9"/>
            <p:cNvSpPr/>
            <p:nvPr/>
          </p:nvSpPr>
          <p:spPr>
            <a:xfrm>
              <a:off x="1524000" y="1524000"/>
              <a:ext cx="2952750" cy="4667250"/>
            </a:xfrm>
            <a:prstGeom prst="roundRect">
              <a:avLst>
                <a:gd name="adj" fmla="val 2581"/>
              </a:avLst>
            </a:prstGeom>
            <a:solidFill>
              <a:srgbClr val="EAF0F7"/>
            </a:solidFill>
            <a:ln w="19050">
              <a:solidFill>
                <a:srgbClr val="D7E0EA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0717" y="1619250"/>
              <a:ext cx="2099316" cy="43815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477000" y="1524000"/>
              <a:ext cx="2952750" cy="4667250"/>
            </a:xfrm>
            <a:prstGeom prst="roundRect">
              <a:avLst>
                <a:gd name="adj" fmla="val 2581"/>
              </a:avLst>
            </a:prstGeom>
            <a:solidFill>
              <a:srgbClr val="EAF0F7"/>
            </a:solidFill>
            <a:ln w="19050">
              <a:solidFill>
                <a:srgbClr val="D7E0EA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3717" y="1619250"/>
              <a:ext cx="2099316" cy="4381500"/>
            </a:xfrm>
            <a:prstGeom prst="rect">
              <a:avLst/>
            </a:prstGeom>
          </p:spPr>
        </p:pic>
        <p:sp>
          <p:nvSpPr>
            <p:cNvPr id="13" name="Line 13"/>
            <p:cNvSpPr/>
            <p:nvPr/>
          </p:nvSpPr>
          <p:spPr>
            <a:xfrm>
              <a:off x="4762500" y="3857625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38100">
              <a:solidFill>
                <a:srgbClr val="E63B46"/>
              </a:solidFill>
              <a:prstDash val="lg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49638" y="633126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收件箱 / 已发邮件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46106" y="6331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关联知识与流程的写邮件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997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419100"/>
            <a:ext cx="6051233" cy="609600"/>
            <a:chOff x="590550" y="419100"/>
            <a:chExt cx="6051233" cy="609600"/>
          </a:xfrm>
        </p:grpSpPr>
        <p:grpSp>
          <p:nvGrpSpPr>
            <p:cNvPr id="5" name="Group 5"/>
            <p:cNvGrpSpPr/>
            <p:nvPr/>
          </p:nvGrpSpPr>
          <p:grpSpPr>
            <a:xfrm>
              <a:off x="590550" y="428625"/>
              <a:ext cx="342900" cy="371475"/>
              <a:chOff x="590550" y="428625"/>
              <a:chExt cx="342900" cy="3714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04838" y="471488"/>
                <a:ext cx="31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85725">
                    <a:moveTo>
                      <a:pt x="314325" y="14288"/>
                    </a:moveTo>
                    <a:lnTo>
                      <a:pt x="314325" y="85725"/>
                    </a:lnTo>
                    <a:lnTo>
                      <a:pt x="0" y="8572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300038" y="0"/>
                    </a:lnTo>
                    <a:cubicBezTo>
                      <a:pt x="307928" y="0"/>
                      <a:pt x="314325" y="6397"/>
                      <a:pt x="314325" y="14288"/>
                    </a:cubicBezTo>
                    <a:close/>
                  </a:path>
                </a:pathLst>
              </a:custGeom>
              <a:solidFill>
                <a:srgbClr val="18A38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90550" y="428625"/>
                <a:ext cx="342900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71475">
                    <a:moveTo>
                      <a:pt x="314325" y="28575"/>
                    </a:moveTo>
                    <a:lnTo>
                      <a:pt x="271462" y="28575"/>
                    </a:lnTo>
                    <a:lnTo>
                      <a:pt x="271462" y="14288"/>
                    </a:lnTo>
                    <a:cubicBezTo>
                      <a:pt x="271462" y="6397"/>
                      <a:pt x="265066" y="0"/>
                      <a:pt x="257175" y="0"/>
                    </a:cubicBezTo>
                    <a:cubicBezTo>
                      <a:pt x="249284" y="0"/>
                      <a:pt x="242888" y="6397"/>
                      <a:pt x="242888" y="14288"/>
                    </a:cubicBezTo>
                    <a:lnTo>
                      <a:pt x="242888" y="28575"/>
                    </a:lnTo>
                    <a:lnTo>
                      <a:pt x="100012" y="28575"/>
                    </a:lnTo>
                    <a:lnTo>
                      <a:pt x="100012" y="14288"/>
                    </a:lnTo>
                    <a:cubicBezTo>
                      <a:pt x="100012" y="6397"/>
                      <a:pt x="93616" y="0"/>
                      <a:pt x="85725" y="0"/>
                    </a:cubicBezTo>
                    <a:cubicBezTo>
                      <a:pt x="77834" y="0"/>
                      <a:pt x="71438" y="6397"/>
                      <a:pt x="71438" y="14288"/>
                    </a:cubicBezTo>
                    <a:lnTo>
                      <a:pt x="71438" y="28575"/>
                    </a:lnTo>
                    <a:lnTo>
                      <a:pt x="28575" y="28575"/>
                    </a:lnTo>
                    <a:cubicBezTo>
                      <a:pt x="12793" y="28575"/>
                      <a:pt x="0" y="41368"/>
                      <a:pt x="0" y="57150"/>
                    </a:cubicBezTo>
                    <a:lnTo>
                      <a:pt x="0" y="342900"/>
                    </a:lnTo>
                    <a:cubicBezTo>
                      <a:pt x="0" y="358682"/>
                      <a:pt x="12793" y="371475"/>
                      <a:pt x="28575" y="371475"/>
                    </a:cubicBezTo>
                    <a:lnTo>
                      <a:pt x="314325" y="371475"/>
                    </a:lnTo>
                    <a:cubicBezTo>
                      <a:pt x="330107" y="371475"/>
                      <a:pt x="342900" y="358682"/>
                      <a:pt x="342900" y="342900"/>
                    </a:cubicBezTo>
                    <a:lnTo>
                      <a:pt x="342900" y="57150"/>
                    </a:lnTo>
                    <a:cubicBezTo>
                      <a:pt x="342900" y="41368"/>
                      <a:pt x="330107" y="28575"/>
                      <a:pt x="314325" y="28575"/>
                    </a:cubicBezTo>
                    <a:close/>
                    <a:moveTo>
                      <a:pt x="71438" y="57150"/>
                    </a:moveTo>
                    <a:lnTo>
                      <a:pt x="71438" y="71438"/>
                    </a:lnTo>
                    <a:cubicBezTo>
                      <a:pt x="71438" y="79328"/>
                      <a:pt x="77834" y="85725"/>
                      <a:pt x="85725" y="85725"/>
                    </a:cubicBezTo>
                    <a:cubicBezTo>
                      <a:pt x="93616" y="85725"/>
                      <a:pt x="100012" y="79328"/>
                      <a:pt x="100012" y="71438"/>
                    </a:cubicBezTo>
                    <a:lnTo>
                      <a:pt x="100012" y="57150"/>
                    </a:lnTo>
                    <a:lnTo>
                      <a:pt x="242888" y="57150"/>
                    </a:lnTo>
                    <a:lnTo>
                      <a:pt x="242888" y="71438"/>
                    </a:lnTo>
                    <a:cubicBezTo>
                      <a:pt x="242888" y="79328"/>
                      <a:pt x="249284" y="85725"/>
                      <a:pt x="257175" y="85725"/>
                    </a:cubicBezTo>
                    <a:cubicBezTo>
                      <a:pt x="265066" y="85725"/>
                      <a:pt x="271462" y="79328"/>
                      <a:pt x="271462" y="71438"/>
                    </a:cubicBezTo>
                    <a:lnTo>
                      <a:pt x="271462" y="57150"/>
                    </a:lnTo>
                    <a:lnTo>
                      <a:pt x="314325" y="57150"/>
                    </a:lnTo>
                    <a:lnTo>
                      <a:pt x="314325" y="114300"/>
                    </a:lnTo>
                    <a:lnTo>
                      <a:pt x="28575" y="114300"/>
                    </a:lnTo>
                    <a:lnTo>
                      <a:pt x="28575" y="57150"/>
                    </a:lnTo>
                    <a:close/>
                    <a:moveTo>
                      <a:pt x="314325" y="342900"/>
                    </a:moveTo>
                    <a:lnTo>
                      <a:pt x="28575" y="342900"/>
                    </a:lnTo>
                    <a:lnTo>
                      <a:pt x="28575" y="142875"/>
                    </a:lnTo>
                    <a:lnTo>
                      <a:pt x="314325" y="142875"/>
                    </a:lnTo>
                    <a:lnTo>
                      <a:pt x="314325" y="342900"/>
                    </a:lnTo>
                    <a:close/>
                    <a:moveTo>
                      <a:pt x="245852" y="189917"/>
                    </a:moveTo>
                    <a:cubicBezTo>
                      <a:pt x="248535" y="192596"/>
                      <a:pt x="250042" y="196233"/>
                      <a:pt x="250042" y="200025"/>
                    </a:cubicBezTo>
                    <a:cubicBezTo>
                      <a:pt x="250042" y="203817"/>
                      <a:pt x="248535" y="207454"/>
                      <a:pt x="245852" y="210133"/>
                    </a:cubicBezTo>
                    <a:lnTo>
                      <a:pt x="160127" y="295858"/>
                    </a:lnTo>
                    <a:cubicBezTo>
                      <a:pt x="157447" y="298541"/>
                      <a:pt x="153811" y="300049"/>
                      <a:pt x="150019" y="300049"/>
                    </a:cubicBezTo>
                    <a:cubicBezTo>
                      <a:pt x="146227" y="300049"/>
                      <a:pt x="142590" y="298541"/>
                      <a:pt x="139910" y="295858"/>
                    </a:cubicBezTo>
                    <a:lnTo>
                      <a:pt x="97048" y="252996"/>
                    </a:lnTo>
                    <a:cubicBezTo>
                      <a:pt x="91465" y="247413"/>
                      <a:pt x="91465" y="238362"/>
                      <a:pt x="97048" y="232779"/>
                    </a:cubicBezTo>
                    <a:cubicBezTo>
                      <a:pt x="102631" y="227196"/>
                      <a:pt x="111682" y="227196"/>
                      <a:pt x="117265" y="232779"/>
                    </a:cubicBezTo>
                    <a:lnTo>
                      <a:pt x="150019" y="265551"/>
                    </a:lnTo>
                    <a:lnTo>
                      <a:pt x="225635" y="189917"/>
                    </a:lnTo>
                    <a:cubicBezTo>
                      <a:pt x="228315" y="187234"/>
                      <a:pt x="231952" y="185726"/>
                      <a:pt x="235744" y="185726"/>
                    </a:cubicBezTo>
                    <a:cubicBezTo>
                      <a:pt x="239536" y="185726"/>
                      <a:pt x="243172" y="187234"/>
                      <a:pt x="245852" y="189917"/>
                    </a:cubicBezTo>
                    <a:close/>
                  </a:path>
                </a:pathLst>
              </a:custGeom>
              <a:solidFill>
                <a:srgbClr val="18A38A"/>
              </a:solidFill>
              <a:ln>
                <a:noFill/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04900" y="419100"/>
              <a:ext cx="553688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考勤签到签退：让状态可追溯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1238250"/>
            <a:ext cx="2952750" cy="5048250"/>
            <a:chOff x="1143000" y="1238250"/>
            <a:chExt cx="2952750" cy="5048250"/>
          </a:xfrm>
        </p:grpSpPr>
        <p:sp>
          <p:nvSpPr>
            <p:cNvPr id="8" name="Rectangle 8"/>
            <p:cNvSpPr/>
            <p:nvPr/>
          </p:nvSpPr>
          <p:spPr>
            <a:xfrm>
              <a:off x="1143000" y="1238250"/>
              <a:ext cx="2952750" cy="5048250"/>
            </a:xfrm>
            <a:prstGeom prst="roundRect">
              <a:avLst>
                <a:gd name="adj" fmla="val 2581"/>
              </a:avLst>
            </a:prstGeom>
            <a:solidFill>
              <a:srgbClr val="EAF0F7"/>
            </a:solidFill>
            <a:ln w="19050">
              <a:solidFill>
                <a:srgbClr val="D7E0EA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8442" y="1381125"/>
              <a:ext cx="2281866" cy="47625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5301615" y="2105978"/>
            <a:ext cx="3133725" cy="3528060"/>
            <a:chOff x="5301615" y="2105978"/>
            <a:chExt cx="3133725" cy="3528060"/>
          </a:xfrm>
        </p:grpSpPr>
        <p:sp>
          <p:nvSpPr>
            <p:cNvPr id="11" name="TextBox 11"/>
            <p:cNvSpPr txBox="1"/>
            <p:nvPr/>
          </p:nvSpPr>
          <p:spPr>
            <a:xfrm>
              <a:off x="5301615" y="210597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今日状态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13045" y="2631758"/>
              <a:ext cx="30232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清楚呈现签到/签退的完成情况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01615" y="3439478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时间与地点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13045" y="3965258"/>
              <a:ext cx="31222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移动端操作信息可核对、可备注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01615" y="477297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近期记录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13045" y="5298758"/>
              <a:ext cx="29022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为历史签到签退提供回访依据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997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59729" y="419100"/>
            <a:ext cx="7762263" cy="776288"/>
            <a:chOff x="559729" y="419100"/>
            <a:chExt cx="7762263" cy="776288"/>
          </a:xfrm>
        </p:grpSpPr>
        <p:grpSp>
          <p:nvGrpSpPr>
            <p:cNvPr id="5" name="Group 5"/>
            <p:cNvGrpSpPr/>
            <p:nvPr/>
          </p:nvGrpSpPr>
          <p:grpSpPr>
            <a:xfrm>
              <a:off x="559729" y="428629"/>
              <a:ext cx="404462" cy="387544"/>
              <a:chOff x="559729" y="428629"/>
              <a:chExt cx="404462" cy="387544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575072" y="443059"/>
                <a:ext cx="373856" cy="357872"/>
              </a:xfrm>
              <a:custGeom>
                <a:avLst/>
                <a:gdLst/>
                <a:ahLst/>
                <a:cxnLst/>
                <a:rect l="l" t="t" r="r" b="b"/>
                <a:pathLst>
                  <a:path w="373856" h="357872">
                    <a:moveTo>
                      <a:pt x="287172" y="220774"/>
                    </a:moveTo>
                    <a:cubicBezTo>
                      <a:pt x="283183" y="224279"/>
                      <a:pt x="281440" y="229691"/>
                      <a:pt x="282636" y="234865"/>
                    </a:cubicBezTo>
                    <a:lnTo>
                      <a:pt x="306782" y="339414"/>
                    </a:lnTo>
                    <a:cubicBezTo>
                      <a:pt x="308087" y="344996"/>
                      <a:pt x="305928" y="350818"/>
                      <a:pt x="301300" y="354200"/>
                    </a:cubicBezTo>
                    <a:cubicBezTo>
                      <a:pt x="296672" y="357583"/>
                      <a:pt x="290470" y="357872"/>
                      <a:pt x="285547" y="354934"/>
                    </a:cubicBezTo>
                    <a:lnTo>
                      <a:pt x="194286" y="299570"/>
                    </a:lnTo>
                    <a:cubicBezTo>
                      <a:pt x="189765" y="296821"/>
                      <a:pt x="184090" y="296821"/>
                      <a:pt x="179570" y="299570"/>
                    </a:cubicBezTo>
                    <a:lnTo>
                      <a:pt x="88308" y="354934"/>
                    </a:lnTo>
                    <a:cubicBezTo>
                      <a:pt x="83386" y="357872"/>
                      <a:pt x="77184" y="357583"/>
                      <a:pt x="72556" y="354200"/>
                    </a:cubicBezTo>
                    <a:cubicBezTo>
                      <a:pt x="67927" y="350818"/>
                      <a:pt x="65769" y="344996"/>
                      <a:pt x="67074" y="339414"/>
                    </a:cubicBezTo>
                    <a:lnTo>
                      <a:pt x="91219" y="234865"/>
                    </a:lnTo>
                    <a:cubicBezTo>
                      <a:pt x="92415" y="229691"/>
                      <a:pt x="90673" y="224279"/>
                      <a:pt x="86683" y="220774"/>
                    </a:cubicBezTo>
                    <a:lnTo>
                      <a:pt x="6119" y="150498"/>
                    </a:lnTo>
                    <a:cubicBezTo>
                      <a:pt x="1715" y="146754"/>
                      <a:pt x="0" y="140725"/>
                      <a:pt x="1775" y="135224"/>
                    </a:cubicBezTo>
                    <a:cubicBezTo>
                      <a:pt x="3550" y="129722"/>
                      <a:pt x="8466" y="125833"/>
                      <a:pt x="14228" y="125369"/>
                    </a:cubicBezTo>
                    <a:lnTo>
                      <a:pt x="120419" y="116190"/>
                    </a:lnTo>
                    <a:cubicBezTo>
                      <a:pt x="125700" y="115719"/>
                      <a:pt x="130285" y="112364"/>
                      <a:pt x="132332" y="107474"/>
                    </a:cubicBezTo>
                    <a:lnTo>
                      <a:pt x="173819" y="8605"/>
                    </a:lnTo>
                    <a:cubicBezTo>
                      <a:pt x="176084" y="3381"/>
                      <a:pt x="181234" y="0"/>
                      <a:pt x="186928" y="0"/>
                    </a:cubicBezTo>
                    <a:cubicBezTo>
                      <a:pt x="192622" y="0"/>
                      <a:pt x="197772" y="3381"/>
                      <a:pt x="200037" y="8605"/>
                    </a:cubicBezTo>
                    <a:lnTo>
                      <a:pt x="241524" y="107474"/>
                    </a:lnTo>
                    <a:cubicBezTo>
                      <a:pt x="243570" y="112364"/>
                      <a:pt x="248156" y="115719"/>
                      <a:pt x="253436" y="116190"/>
                    </a:cubicBezTo>
                    <a:lnTo>
                      <a:pt x="359628" y="125369"/>
                    </a:lnTo>
                    <a:cubicBezTo>
                      <a:pt x="365390" y="125833"/>
                      <a:pt x="370305" y="129722"/>
                      <a:pt x="372080" y="135224"/>
                    </a:cubicBezTo>
                    <a:cubicBezTo>
                      <a:pt x="373856" y="140725"/>
                      <a:pt x="372141" y="146754"/>
                      <a:pt x="367736" y="150498"/>
                    </a:cubicBezTo>
                    <a:close/>
                  </a:path>
                </a:pathLst>
              </a:custGeom>
              <a:solidFill>
                <a:srgbClr val="E63B4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59729" y="428629"/>
                <a:ext cx="404462" cy="387544"/>
              </a:xfrm>
              <a:custGeom>
                <a:avLst/>
                <a:gdLst/>
                <a:ahLst/>
                <a:cxnLst/>
                <a:rect l="l" t="t" r="r" b="b"/>
                <a:pathLst>
                  <a:path w="404462" h="387544">
                    <a:moveTo>
                      <a:pt x="400867" y="145175"/>
                    </a:moveTo>
                    <a:cubicBezTo>
                      <a:pt x="397330" y="134273"/>
                      <a:pt x="387621" y="126539"/>
                      <a:pt x="376203" y="125530"/>
                    </a:cubicBezTo>
                    <a:lnTo>
                      <a:pt x="270136" y="116386"/>
                    </a:lnTo>
                    <a:lnTo>
                      <a:pt x="228560" y="17516"/>
                    </a:lnTo>
                    <a:lnTo>
                      <a:pt x="228560" y="17516"/>
                    </a:lnTo>
                    <a:cubicBezTo>
                      <a:pt x="224134" y="6908"/>
                      <a:pt x="213765" y="0"/>
                      <a:pt x="202271" y="0"/>
                    </a:cubicBezTo>
                    <a:cubicBezTo>
                      <a:pt x="190776" y="0"/>
                      <a:pt x="180408" y="6908"/>
                      <a:pt x="175982" y="17516"/>
                    </a:cubicBezTo>
                    <a:lnTo>
                      <a:pt x="134530" y="116386"/>
                    </a:lnTo>
                    <a:lnTo>
                      <a:pt x="28338" y="125584"/>
                    </a:lnTo>
                    <a:cubicBezTo>
                      <a:pt x="16874" y="126547"/>
                      <a:pt x="7105" y="134292"/>
                      <a:pt x="3553" y="145234"/>
                    </a:cubicBezTo>
                    <a:cubicBezTo>
                      <a:pt x="0" y="156177"/>
                      <a:pt x="3356" y="168183"/>
                      <a:pt x="12068" y="175697"/>
                    </a:cubicBezTo>
                    <a:lnTo>
                      <a:pt x="92632" y="246099"/>
                    </a:lnTo>
                    <a:lnTo>
                      <a:pt x="68486" y="350647"/>
                    </a:lnTo>
                    <a:cubicBezTo>
                      <a:pt x="65876" y="361833"/>
                      <a:pt x="70217" y="373494"/>
                      <a:pt x="79505" y="380250"/>
                    </a:cubicBezTo>
                    <a:cubicBezTo>
                      <a:pt x="88794" y="387006"/>
                      <a:pt x="101225" y="387544"/>
                      <a:pt x="111063" y="381616"/>
                    </a:cubicBezTo>
                    <a:lnTo>
                      <a:pt x="202146" y="326251"/>
                    </a:lnTo>
                    <a:lnTo>
                      <a:pt x="293425" y="381616"/>
                    </a:lnTo>
                    <a:cubicBezTo>
                      <a:pt x="303263" y="387544"/>
                      <a:pt x="315694" y="387006"/>
                      <a:pt x="324983" y="380250"/>
                    </a:cubicBezTo>
                    <a:cubicBezTo>
                      <a:pt x="334271" y="373494"/>
                      <a:pt x="338612" y="361833"/>
                      <a:pt x="336002" y="350647"/>
                    </a:cubicBezTo>
                    <a:lnTo>
                      <a:pt x="311874" y="245991"/>
                    </a:lnTo>
                    <a:lnTo>
                      <a:pt x="392420" y="175697"/>
                    </a:lnTo>
                    <a:cubicBezTo>
                      <a:pt x="401131" y="168157"/>
                      <a:pt x="404462" y="156122"/>
                      <a:pt x="400867" y="145175"/>
                    </a:cubicBezTo>
                    <a:close/>
                    <a:moveTo>
                      <a:pt x="373685" y="154105"/>
                    </a:moveTo>
                    <a:lnTo>
                      <a:pt x="293139" y="224399"/>
                    </a:lnTo>
                    <a:cubicBezTo>
                      <a:pt x="285151" y="231349"/>
                      <a:pt x="281659" y="242146"/>
                      <a:pt x="284067" y="252457"/>
                    </a:cubicBezTo>
                    <a:lnTo>
                      <a:pt x="308266" y="357184"/>
                    </a:lnTo>
                    <a:lnTo>
                      <a:pt x="308266" y="357184"/>
                    </a:lnTo>
                    <a:lnTo>
                      <a:pt x="217058" y="301820"/>
                    </a:lnTo>
                    <a:cubicBezTo>
                      <a:pt x="207987" y="296295"/>
                      <a:pt x="196591" y="296295"/>
                      <a:pt x="187519" y="301820"/>
                    </a:cubicBezTo>
                    <a:lnTo>
                      <a:pt x="96436" y="357184"/>
                    </a:lnTo>
                    <a:lnTo>
                      <a:pt x="96436" y="357184"/>
                    </a:lnTo>
                    <a:lnTo>
                      <a:pt x="120475" y="252528"/>
                    </a:lnTo>
                    <a:cubicBezTo>
                      <a:pt x="122882" y="242217"/>
                      <a:pt x="119391" y="231420"/>
                      <a:pt x="111402" y="224471"/>
                    </a:cubicBezTo>
                    <a:lnTo>
                      <a:pt x="30821" y="154212"/>
                    </a:lnTo>
                    <a:cubicBezTo>
                      <a:pt x="30814" y="154159"/>
                      <a:pt x="30814" y="154105"/>
                      <a:pt x="30821" y="154051"/>
                    </a:cubicBezTo>
                    <a:lnTo>
                      <a:pt x="136977" y="144872"/>
                    </a:lnTo>
                    <a:cubicBezTo>
                      <a:pt x="147540" y="143941"/>
                      <a:pt x="156718" y="137237"/>
                      <a:pt x="160819" y="127459"/>
                    </a:cubicBezTo>
                    <a:lnTo>
                      <a:pt x="202271" y="28714"/>
                    </a:lnTo>
                    <a:lnTo>
                      <a:pt x="243705" y="127459"/>
                    </a:lnTo>
                    <a:cubicBezTo>
                      <a:pt x="247806" y="137237"/>
                      <a:pt x="256984" y="143941"/>
                      <a:pt x="267547" y="144872"/>
                    </a:cubicBezTo>
                    <a:lnTo>
                      <a:pt x="373721" y="154051"/>
                    </a:lnTo>
                    <a:cubicBezTo>
                      <a:pt x="373721" y="154051"/>
                      <a:pt x="373721" y="154159"/>
                      <a:pt x="373721" y="154176"/>
                    </a:cubicBezTo>
                    <a:close/>
                  </a:path>
                </a:pathLst>
              </a:custGeom>
              <a:solidFill>
                <a:srgbClr val="E63B46"/>
              </a:solidFill>
              <a:ln>
                <a:noFill/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04900" y="419100"/>
              <a:ext cx="72170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收藏知识：把制度阅读沉淀为个人入口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5855" y="921068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从文章详情到个人中心，保留进入关联流程的下一步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4192" y="1428750"/>
            <a:ext cx="5663241" cy="4762500"/>
            <a:chOff x="1764192" y="1428750"/>
            <a:chExt cx="5663241" cy="4762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4192" y="1428750"/>
              <a:ext cx="2281866" cy="4762500"/>
            </a:xfrm>
            <a:prstGeom prst="rect">
              <a:avLst/>
            </a:prstGeom>
          </p:spPr>
        </p:pic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5567" y="1428750"/>
              <a:ext cx="2281866" cy="4762500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8382000" y="2095500"/>
            <a:ext cx="2667000" cy="2476500"/>
            <a:chOff x="8382000" y="2095500"/>
            <a:chExt cx="2667000" cy="2476500"/>
          </a:xfrm>
        </p:grpSpPr>
        <p:sp>
          <p:nvSpPr>
            <p:cNvPr id="12" name="Rectangle 12"/>
            <p:cNvSpPr/>
            <p:nvPr/>
          </p:nvSpPr>
          <p:spPr>
            <a:xfrm>
              <a:off x="8382000" y="2095500"/>
              <a:ext cx="2667000" cy="2476500"/>
            </a:xfrm>
            <a:prstGeom prst="roundRect">
              <a:avLst>
                <a:gd name="adj" fmla="val 3077"/>
              </a:avLst>
            </a:prstGeom>
            <a:solidFill>
              <a:srgbClr val="EAF0F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465469" y="2488406"/>
              <a:ext cx="500062" cy="428625"/>
              <a:chOff x="9465469" y="2488406"/>
              <a:chExt cx="500062" cy="4286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483328" y="2506266"/>
                <a:ext cx="464344" cy="392906"/>
              </a:xfrm>
              <a:custGeom>
                <a:avLst/>
                <a:gdLst/>
                <a:ahLst/>
                <a:cxnLst/>
                <a:rect l="l" t="t" r="r" b="b"/>
                <a:pathLst>
                  <a:path w="464344" h="392906">
                    <a:moveTo>
                      <a:pt x="464344" y="17859"/>
                    </a:moveTo>
                    <a:lnTo>
                      <a:pt x="464344" y="303609"/>
                    </a:lnTo>
                    <a:cubicBezTo>
                      <a:pt x="464344" y="313473"/>
                      <a:pt x="456348" y="321469"/>
                      <a:pt x="446484" y="321469"/>
                    </a:cubicBezTo>
                    <a:lnTo>
                      <a:pt x="303609" y="321469"/>
                    </a:lnTo>
                    <a:cubicBezTo>
                      <a:pt x="264156" y="321469"/>
                      <a:pt x="232172" y="353452"/>
                      <a:pt x="232172" y="392906"/>
                    </a:cubicBezTo>
                    <a:cubicBezTo>
                      <a:pt x="232172" y="353452"/>
                      <a:pt x="200188" y="321469"/>
                      <a:pt x="160734" y="321469"/>
                    </a:cubicBezTo>
                    <a:lnTo>
                      <a:pt x="17859" y="321469"/>
                    </a:lnTo>
                    <a:cubicBezTo>
                      <a:pt x="7996" y="321469"/>
                      <a:pt x="0" y="313473"/>
                      <a:pt x="0" y="303609"/>
                    </a:cubicBezTo>
                    <a:lnTo>
                      <a:pt x="0" y="17859"/>
                    </a:lnTo>
                    <a:cubicBezTo>
                      <a:pt x="0" y="7996"/>
                      <a:pt x="7996" y="0"/>
                      <a:pt x="17859" y="0"/>
                    </a:cubicBezTo>
                    <a:lnTo>
                      <a:pt x="160734" y="0"/>
                    </a:lnTo>
                    <a:cubicBezTo>
                      <a:pt x="200188" y="0"/>
                      <a:pt x="232172" y="31984"/>
                      <a:pt x="232172" y="71438"/>
                    </a:cubicBezTo>
                    <a:cubicBezTo>
                      <a:pt x="232172" y="31984"/>
                      <a:pt x="264156" y="0"/>
                      <a:pt x="303609" y="0"/>
                    </a:cubicBezTo>
                    <a:lnTo>
                      <a:pt x="446484" y="0"/>
                    </a:lnTo>
                    <a:cubicBezTo>
                      <a:pt x="456348" y="0"/>
                      <a:pt x="464344" y="7996"/>
                      <a:pt x="464344" y="17859"/>
                    </a:cubicBezTo>
                    <a:close/>
                  </a:path>
                </a:pathLst>
              </a:custGeom>
              <a:solidFill>
                <a:srgbClr val="123B6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465469" y="2488406"/>
                <a:ext cx="500062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500062" h="428625">
                    <a:moveTo>
                      <a:pt x="464344" y="0"/>
                    </a:moveTo>
                    <a:lnTo>
                      <a:pt x="321469" y="0"/>
                    </a:lnTo>
                    <a:cubicBezTo>
                      <a:pt x="293362" y="0"/>
                      <a:pt x="266895" y="13233"/>
                      <a:pt x="250031" y="35719"/>
                    </a:cubicBezTo>
                    <a:cubicBezTo>
                      <a:pt x="233167" y="13233"/>
                      <a:pt x="206701" y="0"/>
                      <a:pt x="178594" y="0"/>
                    </a:cubicBezTo>
                    <a:lnTo>
                      <a:pt x="35719" y="0"/>
                    </a:lnTo>
                    <a:cubicBezTo>
                      <a:pt x="15992" y="0"/>
                      <a:pt x="0" y="15992"/>
                      <a:pt x="0" y="35719"/>
                    </a:cubicBezTo>
                    <a:lnTo>
                      <a:pt x="0" y="321469"/>
                    </a:lnTo>
                    <a:cubicBezTo>
                      <a:pt x="0" y="341196"/>
                      <a:pt x="15992" y="357188"/>
                      <a:pt x="35719" y="357188"/>
                    </a:cubicBezTo>
                    <a:lnTo>
                      <a:pt x="178594" y="357188"/>
                    </a:lnTo>
                    <a:cubicBezTo>
                      <a:pt x="208184" y="357188"/>
                      <a:pt x="232172" y="381175"/>
                      <a:pt x="232172" y="410766"/>
                    </a:cubicBezTo>
                    <a:cubicBezTo>
                      <a:pt x="232172" y="420629"/>
                      <a:pt x="240168" y="428625"/>
                      <a:pt x="250031" y="428625"/>
                    </a:cubicBezTo>
                    <a:cubicBezTo>
                      <a:pt x="259895" y="428625"/>
                      <a:pt x="267891" y="420629"/>
                      <a:pt x="267891" y="410766"/>
                    </a:cubicBezTo>
                    <a:cubicBezTo>
                      <a:pt x="267891" y="381175"/>
                      <a:pt x="291878" y="357188"/>
                      <a:pt x="321469" y="357188"/>
                    </a:cubicBezTo>
                    <a:lnTo>
                      <a:pt x="464344" y="357188"/>
                    </a:lnTo>
                    <a:cubicBezTo>
                      <a:pt x="484071" y="357188"/>
                      <a:pt x="500062" y="341196"/>
                      <a:pt x="500062" y="321469"/>
                    </a:cubicBezTo>
                    <a:lnTo>
                      <a:pt x="500062" y="35719"/>
                    </a:lnTo>
                    <a:cubicBezTo>
                      <a:pt x="500062" y="15992"/>
                      <a:pt x="484071" y="0"/>
                      <a:pt x="464344" y="0"/>
                    </a:cubicBezTo>
                    <a:close/>
                    <a:moveTo>
                      <a:pt x="178594" y="321469"/>
                    </a:moveTo>
                    <a:lnTo>
                      <a:pt x="35719" y="321469"/>
                    </a:lnTo>
                    <a:lnTo>
                      <a:pt x="35719" y="35719"/>
                    </a:lnTo>
                    <a:lnTo>
                      <a:pt x="178594" y="35719"/>
                    </a:lnTo>
                    <a:cubicBezTo>
                      <a:pt x="208184" y="35719"/>
                      <a:pt x="232172" y="59706"/>
                      <a:pt x="232172" y="89297"/>
                    </a:cubicBezTo>
                    <a:lnTo>
                      <a:pt x="232172" y="339328"/>
                    </a:lnTo>
                    <a:cubicBezTo>
                      <a:pt x="216729" y="327708"/>
                      <a:pt x="197920" y="321438"/>
                      <a:pt x="178594" y="321469"/>
                    </a:cubicBezTo>
                    <a:close/>
                    <a:moveTo>
                      <a:pt x="464344" y="321469"/>
                    </a:moveTo>
                    <a:lnTo>
                      <a:pt x="321469" y="321469"/>
                    </a:lnTo>
                    <a:cubicBezTo>
                      <a:pt x="302143" y="321438"/>
                      <a:pt x="283333" y="327708"/>
                      <a:pt x="267891" y="339328"/>
                    </a:cubicBezTo>
                    <a:lnTo>
                      <a:pt x="267891" y="89297"/>
                    </a:lnTo>
                    <a:cubicBezTo>
                      <a:pt x="267891" y="59706"/>
                      <a:pt x="291878" y="35719"/>
                      <a:pt x="321469" y="35719"/>
                    </a:cubicBezTo>
                    <a:lnTo>
                      <a:pt x="464344" y="35719"/>
                    </a:lnTo>
                    <a:close/>
                  </a:path>
                </a:pathLst>
              </a:custGeom>
              <a:solidFill>
                <a:srgbClr val="123B63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9100756" y="31070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文章详情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66346" y="3571875"/>
              <a:ext cx="16983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标签 · 版本 · 更新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66321" y="3933825"/>
              <a:ext cx="20983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收藏 · 纠错 · 关联流程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997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B6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419100"/>
            <a:ext cx="7311390" cy="609600"/>
            <a:chOff x="590550" y="419100"/>
            <a:chExt cx="7311390" cy="609600"/>
          </a:xfrm>
        </p:grpSpPr>
        <p:grpSp>
          <p:nvGrpSpPr>
            <p:cNvPr id="5" name="Group 5"/>
            <p:cNvGrpSpPr/>
            <p:nvPr/>
          </p:nvGrpSpPr>
          <p:grpSpPr>
            <a:xfrm>
              <a:off x="590550" y="442912"/>
              <a:ext cx="342900" cy="371475"/>
              <a:chOff x="590550" y="442912"/>
              <a:chExt cx="342900" cy="3714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04838" y="457200"/>
                <a:ext cx="3143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171450">
                    <a:moveTo>
                      <a:pt x="314325" y="85725"/>
                    </a:moveTo>
                    <a:cubicBezTo>
                      <a:pt x="314325" y="133070"/>
                      <a:pt x="243959" y="171450"/>
                      <a:pt x="157162" y="171450"/>
                    </a:cubicBezTo>
                    <a:cubicBezTo>
                      <a:pt x="70366" y="171450"/>
                      <a:pt x="0" y="133070"/>
                      <a:pt x="0" y="85725"/>
                    </a:cubicBezTo>
                    <a:cubicBezTo>
                      <a:pt x="0" y="38380"/>
                      <a:pt x="70366" y="0"/>
                      <a:pt x="157162" y="0"/>
                    </a:cubicBezTo>
                    <a:cubicBezTo>
                      <a:pt x="243959" y="0"/>
                      <a:pt x="314325" y="38380"/>
                      <a:pt x="314325" y="85725"/>
                    </a:cubicBezTo>
                    <a:close/>
                  </a:path>
                </a:pathLst>
              </a:custGeom>
              <a:solidFill>
                <a:srgbClr val="18A38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90550" y="442912"/>
                <a:ext cx="342900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71475">
                    <a:moveTo>
                      <a:pt x="171450" y="0"/>
                    </a:moveTo>
                    <a:cubicBezTo>
                      <a:pt x="75313" y="0"/>
                      <a:pt x="0" y="43934"/>
                      <a:pt x="0" y="100012"/>
                    </a:cubicBezTo>
                    <a:lnTo>
                      <a:pt x="0" y="271462"/>
                    </a:lnTo>
                    <a:cubicBezTo>
                      <a:pt x="0" y="327541"/>
                      <a:pt x="75313" y="371475"/>
                      <a:pt x="171450" y="371475"/>
                    </a:cubicBezTo>
                    <a:cubicBezTo>
                      <a:pt x="267587" y="371475"/>
                      <a:pt x="342900" y="327541"/>
                      <a:pt x="342900" y="271462"/>
                    </a:cubicBezTo>
                    <a:lnTo>
                      <a:pt x="342900" y="100012"/>
                    </a:lnTo>
                    <a:cubicBezTo>
                      <a:pt x="342900" y="43934"/>
                      <a:pt x="267587" y="0"/>
                      <a:pt x="171450" y="0"/>
                    </a:cubicBezTo>
                    <a:close/>
                    <a:moveTo>
                      <a:pt x="314325" y="185738"/>
                    </a:moveTo>
                    <a:cubicBezTo>
                      <a:pt x="314325" y="202918"/>
                      <a:pt x="300252" y="220438"/>
                      <a:pt x="275731" y="233815"/>
                    </a:cubicBezTo>
                    <a:cubicBezTo>
                      <a:pt x="248120" y="248870"/>
                      <a:pt x="211080" y="257175"/>
                      <a:pt x="171450" y="257175"/>
                    </a:cubicBezTo>
                    <a:cubicBezTo>
                      <a:pt x="131820" y="257175"/>
                      <a:pt x="94780" y="248870"/>
                      <a:pt x="67169" y="233815"/>
                    </a:cubicBezTo>
                    <a:cubicBezTo>
                      <a:pt x="42648" y="220438"/>
                      <a:pt x="28575" y="202918"/>
                      <a:pt x="28575" y="185738"/>
                    </a:cubicBezTo>
                    <a:lnTo>
                      <a:pt x="28575" y="156019"/>
                    </a:lnTo>
                    <a:cubicBezTo>
                      <a:pt x="59043" y="182809"/>
                      <a:pt x="111139" y="200025"/>
                      <a:pt x="171450" y="200025"/>
                    </a:cubicBezTo>
                    <a:cubicBezTo>
                      <a:pt x="231761" y="200025"/>
                      <a:pt x="283857" y="182737"/>
                      <a:pt x="314325" y="156019"/>
                    </a:cubicBezTo>
                    <a:close/>
                    <a:moveTo>
                      <a:pt x="67169" y="51935"/>
                    </a:moveTo>
                    <a:cubicBezTo>
                      <a:pt x="94780" y="36880"/>
                      <a:pt x="131820" y="28575"/>
                      <a:pt x="171450" y="28575"/>
                    </a:cubicBezTo>
                    <a:cubicBezTo>
                      <a:pt x="211080" y="28575"/>
                      <a:pt x="248120" y="36880"/>
                      <a:pt x="275731" y="51935"/>
                    </a:cubicBezTo>
                    <a:cubicBezTo>
                      <a:pt x="300252" y="65312"/>
                      <a:pt x="314325" y="82832"/>
                      <a:pt x="314325" y="100012"/>
                    </a:cubicBezTo>
                    <a:cubicBezTo>
                      <a:pt x="314325" y="117193"/>
                      <a:pt x="300252" y="134713"/>
                      <a:pt x="275731" y="148090"/>
                    </a:cubicBezTo>
                    <a:cubicBezTo>
                      <a:pt x="248120" y="163145"/>
                      <a:pt x="211080" y="171450"/>
                      <a:pt x="171450" y="171450"/>
                    </a:cubicBezTo>
                    <a:cubicBezTo>
                      <a:pt x="131820" y="171450"/>
                      <a:pt x="94780" y="163145"/>
                      <a:pt x="67169" y="148090"/>
                    </a:cubicBezTo>
                    <a:cubicBezTo>
                      <a:pt x="42648" y="134713"/>
                      <a:pt x="28575" y="117193"/>
                      <a:pt x="28575" y="100012"/>
                    </a:cubicBezTo>
                    <a:cubicBezTo>
                      <a:pt x="28575" y="82832"/>
                      <a:pt x="42648" y="65312"/>
                      <a:pt x="67169" y="51935"/>
                    </a:cubicBezTo>
                    <a:close/>
                    <a:moveTo>
                      <a:pt x="275731" y="319540"/>
                    </a:moveTo>
                    <a:cubicBezTo>
                      <a:pt x="248120" y="334595"/>
                      <a:pt x="211080" y="342900"/>
                      <a:pt x="171450" y="342900"/>
                    </a:cubicBezTo>
                    <a:cubicBezTo>
                      <a:pt x="131820" y="342900"/>
                      <a:pt x="94780" y="334595"/>
                      <a:pt x="67169" y="319540"/>
                    </a:cubicBezTo>
                    <a:cubicBezTo>
                      <a:pt x="42648" y="306163"/>
                      <a:pt x="28575" y="288643"/>
                      <a:pt x="28575" y="271462"/>
                    </a:cubicBezTo>
                    <a:lnTo>
                      <a:pt x="28575" y="241744"/>
                    </a:lnTo>
                    <a:cubicBezTo>
                      <a:pt x="59043" y="268534"/>
                      <a:pt x="111139" y="285750"/>
                      <a:pt x="171450" y="285750"/>
                    </a:cubicBezTo>
                    <a:cubicBezTo>
                      <a:pt x="231761" y="285750"/>
                      <a:pt x="283857" y="268462"/>
                      <a:pt x="314325" y="241744"/>
                    </a:cubicBezTo>
                    <a:lnTo>
                      <a:pt x="314325" y="271462"/>
                    </a:lnTo>
                    <a:cubicBezTo>
                      <a:pt x="314325" y="288643"/>
                      <a:pt x="300252" y="306163"/>
                      <a:pt x="275731" y="319540"/>
                    </a:cubicBezTo>
                    <a:close/>
                  </a:path>
                </a:pathLst>
              </a:custGeom>
              <a:solidFill>
                <a:srgbClr val="18A38A"/>
              </a:solidFill>
              <a:ln>
                <a:noFill/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04900" y="419100"/>
              <a:ext cx="679704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后端开发：模块化服务支撑业务闭环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2940" y="1424940"/>
            <a:ext cx="4385310" cy="3113722"/>
            <a:chOff x="662940" y="1424940"/>
            <a:chExt cx="4385310" cy="3113722"/>
          </a:xfrm>
        </p:grpSpPr>
        <p:sp>
          <p:nvSpPr>
            <p:cNvPr id="8" name="TextBox 8"/>
            <p:cNvSpPr txBox="1"/>
            <p:nvPr/>
          </p:nvSpPr>
          <p:spPr>
            <a:xfrm>
              <a:off x="662940" y="1424940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2940" y="1901190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知识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2940" y="2377440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流程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2940" y="2853690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通知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2940" y="3329940"/>
              <a:ext cx="27940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邮件 · 考勤 · 助手 · 协作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66750" y="3905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38100">
              <a:solidFill>
                <a:srgbClr val="E63B4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4845" y="4203382"/>
              <a:ext cx="41234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Controller / Service / Prisma / SQLite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10250" y="1428750"/>
            <a:ext cx="5429250" cy="4443412"/>
            <a:chOff x="5810250" y="1428750"/>
            <a:chExt cx="5429250" cy="4443412"/>
          </a:xfrm>
        </p:grpSpPr>
        <p:sp>
          <p:nvSpPr>
            <p:cNvPr id="16" name="Rectangle 16"/>
            <p:cNvSpPr/>
            <p:nvPr/>
          </p:nvSpPr>
          <p:spPr>
            <a:xfrm>
              <a:off x="5810250" y="1428750"/>
              <a:ext cx="5429250" cy="3810000"/>
            </a:xfrm>
            <a:prstGeom prst="roundRect">
              <a:avLst>
                <a:gd name="adj" fmla="val 2000"/>
              </a:avLst>
            </a:prstGeom>
            <a:solidFill>
              <a:srgbClr val="EAF0F7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0" y="1975521"/>
              <a:ext cx="5048250" cy="2716458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6045113" y="5536882"/>
              <a:ext cx="49595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Swagger 接口总览：前后端路径与模块边界可检查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0F7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5806" y="419100"/>
            <a:ext cx="9456396" cy="609600"/>
            <a:chOff x="545806" y="419100"/>
            <a:chExt cx="9456396" cy="609600"/>
          </a:xfrm>
        </p:grpSpPr>
        <p:grpSp>
          <p:nvGrpSpPr>
            <p:cNvPr id="5" name="Group 5"/>
            <p:cNvGrpSpPr/>
            <p:nvPr/>
          </p:nvGrpSpPr>
          <p:grpSpPr>
            <a:xfrm>
              <a:off x="545806" y="483618"/>
              <a:ext cx="430947" cy="317072"/>
              <a:chOff x="545806" y="483618"/>
              <a:chExt cx="430947" cy="31707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590550" y="500062"/>
                <a:ext cx="3429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28600">
                    <a:moveTo>
                      <a:pt x="242888" y="157162"/>
                    </a:moveTo>
                    <a:cubicBezTo>
                      <a:pt x="242888" y="196616"/>
                      <a:pt x="210904" y="228600"/>
                      <a:pt x="171450" y="228600"/>
                    </a:cubicBezTo>
                    <a:cubicBezTo>
                      <a:pt x="131996" y="228600"/>
                      <a:pt x="100012" y="196616"/>
                      <a:pt x="100012" y="157162"/>
                    </a:cubicBezTo>
                    <a:cubicBezTo>
                      <a:pt x="100012" y="117709"/>
                      <a:pt x="131996" y="85725"/>
                      <a:pt x="171450" y="85725"/>
                    </a:cubicBezTo>
                    <a:cubicBezTo>
                      <a:pt x="210904" y="85725"/>
                      <a:pt x="242888" y="117709"/>
                      <a:pt x="242888" y="157162"/>
                    </a:cubicBezTo>
                    <a:close/>
                    <a:moveTo>
                      <a:pt x="57150" y="0"/>
                    </a:moveTo>
                    <a:cubicBezTo>
                      <a:pt x="25587" y="0"/>
                      <a:pt x="0" y="25587"/>
                      <a:pt x="0" y="57150"/>
                    </a:cubicBez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lose/>
                    <a:moveTo>
                      <a:pt x="285750" y="0"/>
                    </a:moveTo>
                    <a:cubicBezTo>
                      <a:pt x="254187" y="0"/>
                      <a:pt x="228600" y="25587"/>
                      <a:pt x="228600" y="57150"/>
                    </a:cubicBezTo>
                    <a:cubicBezTo>
                      <a:pt x="228600" y="88713"/>
                      <a:pt x="254187" y="114300"/>
                      <a:pt x="285750" y="114300"/>
                    </a:cubicBezTo>
                    <a:cubicBezTo>
                      <a:pt x="317313" y="114300"/>
                      <a:pt x="342900" y="88713"/>
                      <a:pt x="342900" y="57150"/>
                    </a:cubicBezTo>
                    <a:cubicBezTo>
                      <a:pt x="342900" y="25587"/>
                      <a:pt x="317313" y="0"/>
                      <a:pt x="285750" y="0"/>
                    </a:cubicBezTo>
                    <a:close/>
                  </a:path>
                </a:pathLst>
              </a:custGeom>
              <a:solidFill>
                <a:srgbClr val="18A38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45806" y="483618"/>
                <a:ext cx="430947" cy="317072"/>
              </a:xfrm>
              <a:custGeom>
                <a:avLst/>
                <a:gdLst/>
                <a:ahLst/>
                <a:cxnLst/>
                <a:rect l="l" t="t" r="r" b="b"/>
                <a:pathLst>
                  <a:path w="430947" h="317072">
                    <a:moveTo>
                      <a:pt x="424792" y="185037"/>
                    </a:moveTo>
                    <a:cubicBezTo>
                      <a:pt x="418479" y="189771"/>
                      <a:pt x="409524" y="188492"/>
                      <a:pt x="404789" y="182179"/>
                    </a:cubicBezTo>
                    <a:cubicBezTo>
                      <a:pt x="387326" y="158705"/>
                      <a:pt x="359752" y="144918"/>
                      <a:pt x="330494" y="145032"/>
                    </a:cubicBezTo>
                    <a:cubicBezTo>
                      <a:pt x="322604" y="145032"/>
                      <a:pt x="316207" y="138635"/>
                      <a:pt x="316207" y="130744"/>
                    </a:cubicBezTo>
                    <a:cubicBezTo>
                      <a:pt x="316207" y="122853"/>
                      <a:pt x="322604" y="116457"/>
                      <a:pt x="330494" y="116457"/>
                    </a:cubicBezTo>
                    <a:cubicBezTo>
                      <a:pt x="352768" y="116455"/>
                      <a:pt x="371329" y="99393"/>
                      <a:pt x="373201" y="77198"/>
                    </a:cubicBezTo>
                    <a:cubicBezTo>
                      <a:pt x="375074" y="55002"/>
                      <a:pt x="359634" y="35072"/>
                      <a:pt x="337676" y="31338"/>
                    </a:cubicBezTo>
                    <a:cubicBezTo>
                      <a:pt x="315717" y="27604"/>
                      <a:pt x="294558" y="41312"/>
                      <a:pt x="288989" y="62878"/>
                    </a:cubicBezTo>
                    <a:cubicBezTo>
                      <a:pt x="287017" y="70523"/>
                      <a:pt x="279220" y="75120"/>
                      <a:pt x="271576" y="73148"/>
                    </a:cubicBezTo>
                    <a:cubicBezTo>
                      <a:pt x="263932" y="71175"/>
                      <a:pt x="259334" y="63379"/>
                      <a:pt x="261307" y="55735"/>
                    </a:cubicBezTo>
                    <a:cubicBezTo>
                      <a:pt x="268937" y="26210"/>
                      <a:pt x="294468" y="4784"/>
                      <a:pt x="324868" y="2392"/>
                    </a:cubicBezTo>
                    <a:cubicBezTo>
                      <a:pt x="355269" y="0"/>
                      <a:pt x="383836" y="17169"/>
                      <a:pt x="395990" y="45137"/>
                    </a:cubicBezTo>
                    <a:cubicBezTo>
                      <a:pt x="408145" y="73105"/>
                      <a:pt x="401205" y="105704"/>
                      <a:pt x="378715" y="126297"/>
                    </a:cubicBezTo>
                    <a:cubicBezTo>
                      <a:pt x="398142" y="134709"/>
                      <a:pt x="415031" y="148057"/>
                      <a:pt x="427703" y="165016"/>
                    </a:cubicBezTo>
                    <a:cubicBezTo>
                      <a:pt x="429976" y="168055"/>
                      <a:pt x="430947" y="171874"/>
                      <a:pt x="430401" y="175630"/>
                    </a:cubicBezTo>
                    <a:cubicBezTo>
                      <a:pt x="429855" y="179386"/>
                      <a:pt x="427837" y="182771"/>
                      <a:pt x="424792" y="185037"/>
                    </a:cubicBezTo>
                    <a:close/>
                    <a:moveTo>
                      <a:pt x="328566" y="295050"/>
                    </a:moveTo>
                    <a:cubicBezTo>
                      <a:pt x="331281" y="299478"/>
                      <a:pt x="331380" y="305031"/>
                      <a:pt x="328823" y="309552"/>
                    </a:cubicBezTo>
                    <a:cubicBezTo>
                      <a:pt x="326267" y="314074"/>
                      <a:pt x="321458" y="316851"/>
                      <a:pt x="316264" y="316807"/>
                    </a:cubicBezTo>
                    <a:cubicBezTo>
                      <a:pt x="311070" y="316762"/>
                      <a:pt x="306309" y="313902"/>
                      <a:pt x="303830" y="309338"/>
                    </a:cubicBezTo>
                    <a:cubicBezTo>
                      <a:pt x="285516" y="278339"/>
                      <a:pt x="252190" y="259321"/>
                      <a:pt x="216185" y="259321"/>
                    </a:cubicBezTo>
                    <a:cubicBezTo>
                      <a:pt x="180181" y="259321"/>
                      <a:pt x="146855" y="278339"/>
                      <a:pt x="128541" y="309338"/>
                    </a:cubicBezTo>
                    <a:cubicBezTo>
                      <a:pt x="126108" y="313988"/>
                      <a:pt x="121322" y="316930"/>
                      <a:pt x="116074" y="317001"/>
                    </a:cubicBezTo>
                    <a:cubicBezTo>
                      <a:pt x="110826" y="317072"/>
                      <a:pt x="105962" y="314261"/>
                      <a:pt x="103405" y="309678"/>
                    </a:cubicBezTo>
                    <a:cubicBezTo>
                      <a:pt x="100847" y="305095"/>
                      <a:pt x="101008" y="299479"/>
                      <a:pt x="103823" y="295050"/>
                    </a:cubicBezTo>
                    <a:cubicBezTo>
                      <a:pt x="117675" y="271251"/>
                      <a:pt x="138795" y="252521"/>
                      <a:pt x="164081" y="241615"/>
                    </a:cubicBezTo>
                    <a:cubicBezTo>
                      <a:pt x="134908" y="219279"/>
                      <a:pt x="123212" y="180836"/>
                      <a:pt x="135004" y="146037"/>
                    </a:cubicBezTo>
                    <a:cubicBezTo>
                      <a:pt x="146796" y="111239"/>
                      <a:pt x="179452" y="87824"/>
                      <a:pt x="216194" y="87824"/>
                    </a:cubicBezTo>
                    <a:cubicBezTo>
                      <a:pt x="252936" y="87824"/>
                      <a:pt x="285593" y="111239"/>
                      <a:pt x="297385" y="146037"/>
                    </a:cubicBezTo>
                    <a:cubicBezTo>
                      <a:pt x="309176" y="180836"/>
                      <a:pt x="297481" y="219279"/>
                      <a:pt x="268308" y="241615"/>
                    </a:cubicBezTo>
                    <a:cubicBezTo>
                      <a:pt x="293593" y="252521"/>
                      <a:pt x="314714" y="271251"/>
                      <a:pt x="328566" y="295050"/>
                    </a:cubicBezTo>
                    <a:close/>
                    <a:moveTo>
                      <a:pt x="216194" y="230757"/>
                    </a:moveTo>
                    <a:cubicBezTo>
                      <a:pt x="247757" y="230757"/>
                      <a:pt x="273344" y="205170"/>
                      <a:pt x="273344" y="173607"/>
                    </a:cubicBezTo>
                    <a:cubicBezTo>
                      <a:pt x="273344" y="142044"/>
                      <a:pt x="247757" y="116457"/>
                      <a:pt x="216194" y="116457"/>
                    </a:cubicBezTo>
                    <a:cubicBezTo>
                      <a:pt x="184631" y="116457"/>
                      <a:pt x="159044" y="142044"/>
                      <a:pt x="159044" y="173607"/>
                    </a:cubicBezTo>
                    <a:cubicBezTo>
                      <a:pt x="159044" y="205170"/>
                      <a:pt x="184631" y="230757"/>
                      <a:pt x="216194" y="230757"/>
                    </a:cubicBezTo>
                    <a:close/>
                    <a:moveTo>
                      <a:pt x="116182" y="130744"/>
                    </a:moveTo>
                    <a:cubicBezTo>
                      <a:pt x="116182" y="122853"/>
                      <a:pt x="109785" y="116457"/>
                      <a:pt x="101894" y="116457"/>
                    </a:cubicBezTo>
                    <a:cubicBezTo>
                      <a:pt x="79620" y="116455"/>
                      <a:pt x="61060" y="99393"/>
                      <a:pt x="59187" y="77198"/>
                    </a:cubicBezTo>
                    <a:cubicBezTo>
                      <a:pt x="57315" y="55002"/>
                      <a:pt x="72754" y="35072"/>
                      <a:pt x="94713" y="31338"/>
                    </a:cubicBezTo>
                    <a:cubicBezTo>
                      <a:pt x="116672" y="27604"/>
                      <a:pt x="137831" y="41312"/>
                      <a:pt x="143400" y="62878"/>
                    </a:cubicBezTo>
                    <a:cubicBezTo>
                      <a:pt x="145372" y="70523"/>
                      <a:pt x="153168" y="75120"/>
                      <a:pt x="160812" y="73148"/>
                    </a:cubicBezTo>
                    <a:cubicBezTo>
                      <a:pt x="168457" y="71175"/>
                      <a:pt x="173054" y="63379"/>
                      <a:pt x="171082" y="55735"/>
                    </a:cubicBezTo>
                    <a:cubicBezTo>
                      <a:pt x="163451" y="26210"/>
                      <a:pt x="137921" y="4784"/>
                      <a:pt x="107520" y="2392"/>
                    </a:cubicBezTo>
                    <a:cubicBezTo>
                      <a:pt x="77120" y="0"/>
                      <a:pt x="48553" y="17169"/>
                      <a:pt x="36398" y="45137"/>
                    </a:cubicBezTo>
                    <a:cubicBezTo>
                      <a:pt x="24244" y="73105"/>
                      <a:pt x="31183" y="105704"/>
                      <a:pt x="53674" y="126297"/>
                    </a:cubicBezTo>
                    <a:cubicBezTo>
                      <a:pt x="34266" y="134717"/>
                      <a:pt x="17397" y="148065"/>
                      <a:pt x="4739" y="165016"/>
                    </a:cubicBezTo>
                    <a:cubicBezTo>
                      <a:pt x="0" y="171329"/>
                      <a:pt x="1275" y="180288"/>
                      <a:pt x="7588" y="185028"/>
                    </a:cubicBezTo>
                    <a:cubicBezTo>
                      <a:pt x="13901" y="189767"/>
                      <a:pt x="22860" y="188492"/>
                      <a:pt x="27599" y="182179"/>
                    </a:cubicBezTo>
                    <a:cubicBezTo>
                      <a:pt x="45063" y="158705"/>
                      <a:pt x="72637" y="144918"/>
                      <a:pt x="101894" y="145032"/>
                    </a:cubicBezTo>
                    <a:cubicBezTo>
                      <a:pt x="109785" y="145032"/>
                      <a:pt x="116182" y="138635"/>
                      <a:pt x="116182" y="130744"/>
                    </a:cubicBezTo>
                    <a:close/>
                  </a:path>
                </a:pathLst>
              </a:custGeom>
              <a:solidFill>
                <a:srgbClr val="18A38A"/>
              </a:solidFill>
              <a:ln>
                <a:noFill/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04900" y="419100"/>
              <a:ext cx="889730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协作功能：组织、会议、任务放进同一工作对象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2692" y="1381125"/>
            <a:ext cx="9806616" cy="5224463"/>
            <a:chOff x="1192692" y="1381125"/>
            <a:chExt cx="9806616" cy="5224463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2692" y="1381125"/>
              <a:ext cx="2281866" cy="4762500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5067" y="1381125"/>
              <a:ext cx="2281866" cy="4762500"/>
            </a:xfrm>
            <a:prstGeom prst="rect">
              <a:avLst/>
            </a:prstGeom>
          </p:spPr>
        </p:pic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7442" y="1381125"/>
              <a:ext cx="2281866" cy="47625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1956435" y="63312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组织关系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18810" y="63312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工作对象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174" y="633126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会议与任务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6262" y="414338"/>
            <a:ext cx="7745730" cy="614362"/>
            <a:chOff x="576262" y="414338"/>
            <a:chExt cx="7745730" cy="614362"/>
          </a:xfrm>
        </p:grpSpPr>
        <p:grpSp>
          <p:nvGrpSpPr>
            <p:cNvPr id="5" name="Group 5"/>
            <p:cNvGrpSpPr/>
            <p:nvPr/>
          </p:nvGrpSpPr>
          <p:grpSpPr>
            <a:xfrm>
              <a:off x="576262" y="414338"/>
              <a:ext cx="371475" cy="385762"/>
              <a:chOff x="576262" y="414338"/>
              <a:chExt cx="371475" cy="38576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590550" y="500062"/>
                <a:ext cx="3429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85750">
                    <a:moveTo>
                      <a:pt x="300038" y="0"/>
                    </a:moveTo>
                    <a:lnTo>
                      <a:pt x="42862" y="0"/>
                    </a:lnTo>
                    <a:cubicBezTo>
                      <a:pt x="19190" y="0"/>
                      <a:pt x="0" y="19190"/>
                      <a:pt x="0" y="42862"/>
                    </a:cubicBezTo>
                    <a:lnTo>
                      <a:pt x="0" y="242888"/>
                    </a:lnTo>
                    <a:cubicBezTo>
                      <a:pt x="0" y="266560"/>
                      <a:pt x="19190" y="285750"/>
                      <a:pt x="42862" y="285750"/>
                    </a:cubicBezTo>
                    <a:lnTo>
                      <a:pt x="300038" y="285750"/>
                    </a:lnTo>
                    <a:cubicBezTo>
                      <a:pt x="323710" y="285750"/>
                      <a:pt x="342900" y="266560"/>
                      <a:pt x="342900" y="242888"/>
                    </a:cubicBezTo>
                    <a:lnTo>
                      <a:pt x="342900" y="42862"/>
                    </a:lnTo>
                    <a:cubicBezTo>
                      <a:pt x="342900" y="19190"/>
                      <a:pt x="323710" y="0"/>
                      <a:pt x="300038" y="0"/>
                    </a:cubicBezTo>
                    <a:close/>
                    <a:moveTo>
                      <a:pt x="235744" y="228600"/>
                    </a:moveTo>
                    <a:lnTo>
                      <a:pt x="107156" y="228600"/>
                    </a:lnTo>
                    <a:cubicBezTo>
                      <a:pt x="87429" y="228600"/>
                      <a:pt x="71438" y="212608"/>
                      <a:pt x="71438" y="192881"/>
                    </a:cubicBezTo>
                    <a:cubicBezTo>
                      <a:pt x="71438" y="173154"/>
                      <a:pt x="87429" y="157162"/>
                      <a:pt x="107156" y="157162"/>
                    </a:cubicBezTo>
                    <a:lnTo>
                      <a:pt x="235744" y="157162"/>
                    </a:lnTo>
                    <a:cubicBezTo>
                      <a:pt x="255471" y="157162"/>
                      <a:pt x="271462" y="173154"/>
                      <a:pt x="271462" y="192881"/>
                    </a:cubicBezTo>
                    <a:cubicBezTo>
                      <a:pt x="271462" y="212608"/>
                      <a:pt x="255471" y="228600"/>
                      <a:pt x="235744" y="228600"/>
                    </a:cubicBezTo>
                    <a:close/>
                  </a:path>
                </a:pathLst>
              </a:custGeom>
              <a:solidFill>
                <a:srgbClr val="E63B4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76262" y="414338"/>
                <a:ext cx="371475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85762">
                    <a:moveTo>
                      <a:pt x="314325" y="71438"/>
                    </a:moveTo>
                    <a:lnTo>
                      <a:pt x="200025" y="71438"/>
                    </a:lnTo>
                    <a:lnTo>
                      <a:pt x="200025" y="14288"/>
                    </a:lnTo>
                    <a:cubicBezTo>
                      <a:pt x="200025" y="6397"/>
                      <a:pt x="193628" y="0"/>
                      <a:pt x="185738" y="0"/>
                    </a:cubicBezTo>
                    <a:cubicBezTo>
                      <a:pt x="177847" y="0"/>
                      <a:pt x="171450" y="6397"/>
                      <a:pt x="171450" y="14288"/>
                    </a:cubicBezTo>
                    <a:lnTo>
                      <a:pt x="171450" y="71438"/>
                    </a:lnTo>
                    <a:lnTo>
                      <a:pt x="57150" y="71438"/>
                    </a:lnTo>
                    <a:cubicBezTo>
                      <a:pt x="25587" y="71438"/>
                      <a:pt x="0" y="97024"/>
                      <a:pt x="0" y="128588"/>
                    </a:cubicBezTo>
                    <a:lnTo>
                      <a:pt x="0" y="328612"/>
                    </a:lnTo>
                    <a:cubicBezTo>
                      <a:pt x="0" y="360176"/>
                      <a:pt x="25587" y="385762"/>
                      <a:pt x="57150" y="385762"/>
                    </a:cubicBezTo>
                    <a:lnTo>
                      <a:pt x="314325" y="385762"/>
                    </a:lnTo>
                    <a:cubicBezTo>
                      <a:pt x="345888" y="385762"/>
                      <a:pt x="371475" y="360176"/>
                      <a:pt x="371475" y="328612"/>
                    </a:cubicBezTo>
                    <a:lnTo>
                      <a:pt x="371475" y="128588"/>
                    </a:lnTo>
                    <a:cubicBezTo>
                      <a:pt x="371475" y="97024"/>
                      <a:pt x="345888" y="71438"/>
                      <a:pt x="314325" y="71438"/>
                    </a:cubicBezTo>
                    <a:close/>
                    <a:moveTo>
                      <a:pt x="342900" y="328612"/>
                    </a:moveTo>
                    <a:cubicBezTo>
                      <a:pt x="342900" y="344394"/>
                      <a:pt x="330107" y="357188"/>
                      <a:pt x="314325" y="357188"/>
                    </a:cubicBezTo>
                    <a:lnTo>
                      <a:pt x="57150" y="357188"/>
                    </a:lnTo>
                    <a:cubicBezTo>
                      <a:pt x="41368" y="357188"/>
                      <a:pt x="28575" y="344394"/>
                      <a:pt x="28575" y="328612"/>
                    </a:cubicBezTo>
                    <a:lnTo>
                      <a:pt x="28575" y="128588"/>
                    </a:lnTo>
                    <a:cubicBezTo>
                      <a:pt x="28575" y="112806"/>
                      <a:pt x="41368" y="100012"/>
                      <a:pt x="57150" y="100012"/>
                    </a:cubicBezTo>
                    <a:lnTo>
                      <a:pt x="314325" y="100012"/>
                    </a:lnTo>
                    <a:cubicBezTo>
                      <a:pt x="330107" y="100012"/>
                      <a:pt x="342900" y="112806"/>
                      <a:pt x="342900" y="128588"/>
                    </a:cubicBezTo>
                    <a:close/>
                    <a:moveTo>
                      <a:pt x="250031" y="228600"/>
                    </a:moveTo>
                    <a:lnTo>
                      <a:pt x="121444" y="228600"/>
                    </a:lnTo>
                    <a:cubicBezTo>
                      <a:pt x="93826" y="228600"/>
                      <a:pt x="71438" y="250989"/>
                      <a:pt x="71438" y="278606"/>
                    </a:cubicBezTo>
                    <a:cubicBezTo>
                      <a:pt x="71438" y="306224"/>
                      <a:pt x="93826" y="328612"/>
                      <a:pt x="121444" y="328612"/>
                    </a:cubicBezTo>
                    <a:lnTo>
                      <a:pt x="250031" y="328612"/>
                    </a:lnTo>
                    <a:cubicBezTo>
                      <a:pt x="277649" y="328612"/>
                      <a:pt x="300038" y="306224"/>
                      <a:pt x="300038" y="278606"/>
                    </a:cubicBezTo>
                    <a:cubicBezTo>
                      <a:pt x="300038" y="250989"/>
                      <a:pt x="277649" y="228600"/>
                      <a:pt x="250031" y="228600"/>
                    </a:cubicBezTo>
                    <a:close/>
                    <a:moveTo>
                      <a:pt x="200025" y="257175"/>
                    </a:moveTo>
                    <a:lnTo>
                      <a:pt x="200025" y="300038"/>
                    </a:lnTo>
                    <a:lnTo>
                      <a:pt x="171450" y="300038"/>
                    </a:lnTo>
                    <a:lnTo>
                      <a:pt x="171450" y="257175"/>
                    </a:lnTo>
                    <a:close/>
                    <a:moveTo>
                      <a:pt x="100012" y="278606"/>
                    </a:moveTo>
                    <a:cubicBezTo>
                      <a:pt x="100012" y="266770"/>
                      <a:pt x="109608" y="257175"/>
                      <a:pt x="121444" y="257175"/>
                    </a:cubicBezTo>
                    <a:lnTo>
                      <a:pt x="142875" y="257175"/>
                    </a:lnTo>
                    <a:lnTo>
                      <a:pt x="142875" y="300038"/>
                    </a:lnTo>
                    <a:lnTo>
                      <a:pt x="121444" y="300038"/>
                    </a:lnTo>
                    <a:cubicBezTo>
                      <a:pt x="109608" y="300038"/>
                      <a:pt x="100012" y="290442"/>
                      <a:pt x="100012" y="278606"/>
                    </a:cubicBezTo>
                    <a:close/>
                    <a:moveTo>
                      <a:pt x="250031" y="300038"/>
                    </a:moveTo>
                    <a:lnTo>
                      <a:pt x="228600" y="300038"/>
                    </a:lnTo>
                    <a:lnTo>
                      <a:pt x="228600" y="257175"/>
                    </a:lnTo>
                    <a:lnTo>
                      <a:pt x="250031" y="257175"/>
                    </a:lnTo>
                    <a:cubicBezTo>
                      <a:pt x="261867" y="257175"/>
                      <a:pt x="271462" y="266770"/>
                      <a:pt x="271462" y="278606"/>
                    </a:cubicBezTo>
                    <a:cubicBezTo>
                      <a:pt x="271462" y="290442"/>
                      <a:pt x="261867" y="300038"/>
                      <a:pt x="250031" y="300038"/>
                    </a:cubicBezTo>
                    <a:close/>
                    <a:moveTo>
                      <a:pt x="85725" y="178594"/>
                    </a:moveTo>
                    <a:cubicBezTo>
                      <a:pt x="85725" y="166758"/>
                      <a:pt x="95320" y="157162"/>
                      <a:pt x="107156" y="157162"/>
                    </a:cubicBezTo>
                    <a:cubicBezTo>
                      <a:pt x="118992" y="157162"/>
                      <a:pt x="128588" y="166758"/>
                      <a:pt x="128588" y="178594"/>
                    </a:cubicBezTo>
                    <a:cubicBezTo>
                      <a:pt x="128588" y="190430"/>
                      <a:pt x="118992" y="200025"/>
                      <a:pt x="107156" y="200025"/>
                    </a:cubicBezTo>
                    <a:cubicBezTo>
                      <a:pt x="95320" y="200025"/>
                      <a:pt x="85725" y="190430"/>
                      <a:pt x="85725" y="178594"/>
                    </a:cubicBezTo>
                    <a:close/>
                    <a:moveTo>
                      <a:pt x="242888" y="178594"/>
                    </a:moveTo>
                    <a:cubicBezTo>
                      <a:pt x="242888" y="166758"/>
                      <a:pt x="252483" y="157162"/>
                      <a:pt x="264319" y="157162"/>
                    </a:cubicBezTo>
                    <a:cubicBezTo>
                      <a:pt x="276155" y="157162"/>
                      <a:pt x="285750" y="166758"/>
                      <a:pt x="285750" y="178594"/>
                    </a:cubicBezTo>
                    <a:cubicBezTo>
                      <a:pt x="285750" y="190430"/>
                      <a:pt x="276155" y="200025"/>
                      <a:pt x="264319" y="200025"/>
                    </a:cubicBezTo>
                    <a:cubicBezTo>
                      <a:pt x="252483" y="200025"/>
                      <a:pt x="242888" y="190430"/>
                      <a:pt x="242888" y="178594"/>
                    </a:cubicBezTo>
                    <a:close/>
                  </a:path>
                </a:pathLst>
              </a:custGeom>
              <a:solidFill>
                <a:srgbClr val="E63B46"/>
              </a:solidFill>
              <a:ln>
                <a:noFill/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04900" y="419100"/>
              <a:ext cx="72170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智能助手：问答、图片识别与流程推荐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3696" y="1333500"/>
            <a:ext cx="9724608" cy="5272088"/>
            <a:chOff x="1233696" y="1333500"/>
            <a:chExt cx="9724608" cy="5272088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3696" y="1333500"/>
              <a:ext cx="2199858" cy="4762500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6071" y="1333500"/>
              <a:ext cx="2199858" cy="4762500"/>
            </a:xfrm>
            <a:prstGeom prst="rect">
              <a:avLst/>
            </a:prstGeom>
          </p:spPr>
        </p:pic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8446" y="1333500"/>
              <a:ext cx="2199858" cy="4762500"/>
            </a:xfrm>
            <a:prstGeom prst="rect">
              <a:avLst/>
            </a:prstGeom>
          </p:spPr>
        </p:pic>
        <p:sp>
          <p:nvSpPr>
            <p:cNvPr id="11" name="Line 11"/>
            <p:cNvSpPr/>
            <p:nvPr/>
          </p:nvSpPr>
          <p:spPr>
            <a:xfrm>
              <a:off x="3524250" y="3714750"/>
              <a:ext cx="1381125" cy="9525"/>
            </a:xfrm>
            <a:custGeom>
              <a:avLst/>
              <a:gdLst/>
              <a:ahLst/>
              <a:cxnLst/>
              <a:rect l="l" t="t" r="r" b="b"/>
              <a:pathLst>
                <a:path w="1381125" h="9525">
                  <a:moveTo>
                    <a:pt x="0" y="0"/>
                  </a:moveTo>
                  <a:lnTo>
                    <a:pt x="1381125" y="0"/>
                  </a:lnTo>
                </a:path>
              </a:pathLst>
            </a:custGeom>
            <a:noFill/>
            <a:ln w="38100">
              <a:solidFill>
                <a:srgbClr val="E63B4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286625" y="3714750"/>
              <a:ext cx="1381125" cy="9525"/>
            </a:xfrm>
            <a:custGeom>
              <a:avLst/>
              <a:gdLst/>
              <a:ahLst/>
              <a:cxnLst/>
              <a:rect l="l" t="t" r="r" b="b"/>
              <a:pathLst>
                <a:path w="1381125" h="9525">
                  <a:moveTo>
                    <a:pt x="0" y="0"/>
                  </a:moveTo>
                  <a:lnTo>
                    <a:pt x="1381125" y="0"/>
                  </a:lnTo>
                </a:path>
              </a:pathLst>
            </a:custGeom>
            <a:noFill/>
            <a:ln w="38100">
              <a:solidFill>
                <a:srgbClr val="18A38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86401" y="63312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输入问题或图片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8754" y="63312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制度摘要与关联知识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31129" y="63312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推荐流程与智能预填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5300" y="419100"/>
            <a:ext cx="805719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23B63"/>
                </a:solidFill>
                <a:latin typeface="Arial"/>
                <a:ea typeface="Microsoft YaHei"/>
                <a:cs typeface="Arial"/>
              </a:rPr>
              <a:t>模板与知识库：标准入口承接不同业务场景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3630" y="1285875"/>
            <a:ext cx="9997116" cy="5319713"/>
            <a:chOff x="1073630" y="1285875"/>
            <a:chExt cx="9997116" cy="5319713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30" y="1285875"/>
              <a:ext cx="2281866" cy="4762500"/>
            </a:xfrm>
            <a:prstGeom prst="rect">
              <a:avLst/>
            </a:prstGeom>
          </p:spPr>
        </p:pic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1255" y="1285875"/>
              <a:ext cx="2281866" cy="4762500"/>
            </a:xfrm>
            <a:prstGeom prst="rect">
              <a:avLst/>
            </a:prstGeom>
          </p:spPr>
        </p:pic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88880" y="1285875"/>
              <a:ext cx="2281866" cy="47625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1832610" y="63312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分类浏览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20201" y="63312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详情与关联流程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17781" y="6331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请假、报销、采购、权限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6262" y="419100"/>
            <a:ext cx="8165783" cy="609600"/>
            <a:chOff x="576262" y="419100"/>
            <a:chExt cx="8165783" cy="609600"/>
          </a:xfrm>
        </p:grpSpPr>
        <p:grpSp>
          <p:nvGrpSpPr>
            <p:cNvPr id="5" name="Group 5"/>
            <p:cNvGrpSpPr/>
            <p:nvPr/>
          </p:nvGrpSpPr>
          <p:grpSpPr>
            <a:xfrm>
              <a:off x="576262" y="471488"/>
              <a:ext cx="371475" cy="314325"/>
              <a:chOff x="576262" y="471488"/>
              <a:chExt cx="371475" cy="31432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590550" y="485775"/>
                <a:ext cx="3429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85750">
                    <a:moveTo>
                      <a:pt x="342900" y="14288"/>
                    </a:moveTo>
                    <a:lnTo>
                      <a:pt x="342900" y="271462"/>
                    </a:lnTo>
                    <a:cubicBezTo>
                      <a:pt x="342900" y="279353"/>
                      <a:pt x="336503" y="285750"/>
                      <a:pt x="328612" y="285750"/>
                    </a:cubicBezTo>
                    <a:lnTo>
                      <a:pt x="14288" y="285750"/>
                    </a:lnTo>
                    <a:cubicBezTo>
                      <a:pt x="6397" y="285750"/>
                      <a:pt x="0" y="279353"/>
                      <a:pt x="0" y="271462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328612" y="0"/>
                    </a:lnTo>
                    <a:cubicBezTo>
                      <a:pt x="336503" y="0"/>
                      <a:pt x="342900" y="6397"/>
                      <a:pt x="342900" y="14288"/>
                    </a:cubicBezTo>
                    <a:close/>
                  </a:path>
                </a:pathLst>
              </a:custGeom>
              <a:solidFill>
                <a:srgbClr val="18A38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76262" y="471488"/>
                <a:ext cx="37147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14325">
                    <a:moveTo>
                      <a:pt x="34290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85750"/>
                    </a:lnTo>
                    <a:cubicBezTo>
                      <a:pt x="0" y="301532"/>
                      <a:pt x="12793" y="314325"/>
                      <a:pt x="28575" y="314325"/>
                    </a:cubicBezTo>
                    <a:lnTo>
                      <a:pt x="342900" y="314325"/>
                    </a:lnTo>
                    <a:cubicBezTo>
                      <a:pt x="358682" y="314325"/>
                      <a:pt x="371475" y="301532"/>
                      <a:pt x="371475" y="285750"/>
                    </a:cubicBezTo>
                    <a:lnTo>
                      <a:pt x="371475" y="28575"/>
                    </a:lnTo>
                    <a:cubicBezTo>
                      <a:pt x="371475" y="12793"/>
                      <a:pt x="358682" y="0"/>
                      <a:pt x="342900" y="0"/>
                    </a:cubicBezTo>
                    <a:close/>
                    <a:moveTo>
                      <a:pt x="342900" y="285750"/>
                    </a:moveTo>
                    <a:lnTo>
                      <a:pt x="28575" y="285750"/>
                    </a:lnTo>
                    <a:lnTo>
                      <a:pt x="28575" y="28575"/>
                    </a:lnTo>
                    <a:lnTo>
                      <a:pt x="342900" y="28575"/>
                    </a:lnTo>
                    <a:lnTo>
                      <a:pt x="342900" y="285750"/>
                    </a:lnTo>
                    <a:close/>
                    <a:moveTo>
                      <a:pt x="100012" y="78581"/>
                    </a:moveTo>
                    <a:cubicBezTo>
                      <a:pt x="100012" y="90417"/>
                      <a:pt x="90417" y="100012"/>
                      <a:pt x="78581" y="100012"/>
                    </a:cubicBezTo>
                    <a:cubicBezTo>
                      <a:pt x="66745" y="100012"/>
                      <a:pt x="57150" y="90417"/>
                      <a:pt x="57150" y="78581"/>
                    </a:cubicBezTo>
                    <a:cubicBezTo>
                      <a:pt x="57150" y="66745"/>
                      <a:pt x="66745" y="57150"/>
                      <a:pt x="78581" y="57150"/>
                    </a:cubicBezTo>
                    <a:cubicBezTo>
                      <a:pt x="90417" y="57150"/>
                      <a:pt x="100012" y="66745"/>
                      <a:pt x="100012" y="78581"/>
                    </a:cubicBezTo>
                    <a:close/>
                    <a:moveTo>
                      <a:pt x="171450" y="78581"/>
                    </a:moveTo>
                    <a:cubicBezTo>
                      <a:pt x="171450" y="90417"/>
                      <a:pt x="161855" y="100012"/>
                      <a:pt x="150019" y="100012"/>
                    </a:cubicBezTo>
                    <a:cubicBezTo>
                      <a:pt x="138183" y="100012"/>
                      <a:pt x="128588" y="90417"/>
                      <a:pt x="128588" y="78581"/>
                    </a:cubicBezTo>
                    <a:cubicBezTo>
                      <a:pt x="128588" y="66745"/>
                      <a:pt x="138183" y="57150"/>
                      <a:pt x="150019" y="57150"/>
                    </a:cubicBezTo>
                    <a:cubicBezTo>
                      <a:pt x="161855" y="57150"/>
                      <a:pt x="171450" y="66745"/>
                      <a:pt x="171450" y="78581"/>
                    </a:cubicBezTo>
                    <a:close/>
                  </a:path>
                </a:pathLst>
              </a:custGeom>
              <a:solidFill>
                <a:srgbClr val="18A38A"/>
              </a:solidFill>
              <a:ln>
                <a:noFill/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04900" y="419100"/>
              <a:ext cx="76371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工作栏：角色、待办、快捷入口集中呈现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28750" y="1238250"/>
            <a:ext cx="3143250" cy="5048250"/>
            <a:chOff x="1428750" y="1238250"/>
            <a:chExt cx="3143250" cy="5048250"/>
          </a:xfrm>
        </p:grpSpPr>
        <p:sp>
          <p:nvSpPr>
            <p:cNvPr id="8" name="Rectangle 8"/>
            <p:cNvSpPr/>
            <p:nvPr/>
          </p:nvSpPr>
          <p:spPr>
            <a:xfrm>
              <a:off x="1428750" y="1238250"/>
              <a:ext cx="3143250" cy="5048250"/>
            </a:xfrm>
            <a:prstGeom prst="roundRect">
              <a:avLst>
                <a:gd name="adj" fmla="val 2424"/>
              </a:avLst>
            </a:prstGeom>
            <a:solidFill>
              <a:srgbClr val="EAF0F7"/>
            </a:solidFill>
            <a:ln w="19050">
              <a:solidFill>
                <a:srgbClr val="D7E0EA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442" y="1381125"/>
              <a:ext cx="2281866" cy="47625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5682615" y="2201228"/>
            <a:ext cx="4673918" cy="2575560"/>
            <a:chOff x="5682615" y="2201228"/>
            <a:chExt cx="4673918" cy="2575560"/>
          </a:xfrm>
        </p:grpSpPr>
        <p:sp>
          <p:nvSpPr>
            <p:cNvPr id="11" name="TextBox 11"/>
            <p:cNvSpPr txBox="1"/>
            <p:nvPr/>
          </p:nvSpPr>
          <p:spPr>
            <a:xfrm>
              <a:off x="5682615" y="22012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当前身份与部门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94045" y="2822258"/>
              <a:ext cx="3342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不同角色看到不同待办和可用功能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82615" y="3820478"/>
              <a:ext cx="36352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待办、消息、快捷入口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94045" y="4441508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知识、助手、流程与协作在高频动作中直接可达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997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B6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419100"/>
            <a:ext cx="6376988" cy="795338"/>
            <a:chOff x="495300" y="419100"/>
            <a:chExt cx="6376988" cy="795338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41910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新颖特点：智能理解驱动业务执行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6255" y="940118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智能预填不是普通跳转，而是将识别出的关键字段写入后续表单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6300" y="2686050"/>
            <a:ext cx="10439400" cy="1947862"/>
            <a:chOff x="876300" y="2686050"/>
            <a:chExt cx="10439400" cy="1947862"/>
          </a:xfrm>
        </p:grpSpPr>
        <p:sp>
          <p:nvSpPr>
            <p:cNvPr id="6" name="Ellipse 6"/>
            <p:cNvSpPr/>
            <p:nvPr/>
          </p:nvSpPr>
          <p:spPr>
            <a:xfrm>
              <a:off x="876300" y="2686050"/>
              <a:ext cx="1485900" cy="1485900"/>
            </a:xfrm>
            <a:prstGeom prst="ellipse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3114675" y="2686050"/>
              <a:ext cx="1485900" cy="1485900"/>
            </a:xfrm>
            <a:prstGeom prst="ellipse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53050" y="2686050"/>
              <a:ext cx="1485900" cy="1485900"/>
            </a:xfrm>
            <a:prstGeom prst="ellipse">
              <a:avLst/>
            </a:prstGeom>
            <a:solidFill>
              <a:srgbClr val="E63B4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591425" y="2686050"/>
              <a:ext cx="1485900" cy="1485900"/>
            </a:xfrm>
            <a:prstGeom prst="ellipse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829800" y="2686050"/>
              <a:ext cx="1485900" cy="1485900"/>
            </a:xfrm>
            <a:prstGeom prst="ellipse">
              <a:avLst/>
            </a:prstGeom>
            <a:solidFill>
              <a:srgbClr val="18A38A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2362200" y="3429000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47625">
              <a:solidFill>
                <a:srgbClr val="E63B4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600575" y="3429000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47625">
              <a:solidFill>
                <a:srgbClr val="E63B4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838950" y="3429000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47625">
              <a:solidFill>
                <a:srgbClr val="E63B4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077325" y="3429000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47625">
              <a:solidFill>
                <a:srgbClr val="E63B4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8268" y="4298632"/>
              <a:ext cx="4819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6642" y="4298632"/>
              <a:ext cx="4819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知识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34990" y="42986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表单草稿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93392" y="4298632"/>
              <a:ext cx="4819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11740" y="42986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通知回流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908945" y="3226340"/>
              <a:ext cx="387080" cy="402651"/>
              <a:chOff x="5908945" y="3226340"/>
              <a:chExt cx="387080" cy="40265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179344" y="3245644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50006"/>
                    </a:moveTo>
                    <a:cubicBezTo>
                      <a:pt x="100012" y="77624"/>
                      <a:pt x="77624" y="100012"/>
                      <a:pt x="50006" y="100012"/>
                    </a:cubicBez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close/>
                  </a:path>
                </a:pathLst>
              </a:custGeom>
              <a:solidFill>
                <a:srgbClr val="F7F9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908945" y="3226340"/>
                <a:ext cx="387080" cy="402651"/>
              </a:xfrm>
              <a:custGeom>
                <a:avLst/>
                <a:gdLst/>
                <a:ahLst/>
                <a:cxnLst/>
                <a:rect l="l" t="t" r="r" b="b"/>
                <a:pathLst>
                  <a:path w="387080" h="402651">
                    <a:moveTo>
                      <a:pt x="387080" y="69310"/>
                    </a:moveTo>
                    <a:cubicBezTo>
                      <a:pt x="387063" y="34665"/>
                      <a:pt x="360515" y="5806"/>
                      <a:pt x="325992" y="2903"/>
                    </a:cubicBezTo>
                    <a:cubicBezTo>
                      <a:pt x="291469" y="0"/>
                      <a:pt x="260475" y="24021"/>
                      <a:pt x="254672" y="58176"/>
                    </a:cubicBezTo>
                    <a:cubicBezTo>
                      <a:pt x="248870" y="92331"/>
                      <a:pt x="270192" y="125240"/>
                      <a:pt x="303737" y="133901"/>
                    </a:cubicBezTo>
                    <a:lnTo>
                      <a:pt x="303737" y="152654"/>
                    </a:lnTo>
                    <a:cubicBezTo>
                      <a:pt x="303737" y="171065"/>
                      <a:pt x="288811" y="185991"/>
                      <a:pt x="270399" y="185991"/>
                    </a:cubicBezTo>
                    <a:lnTo>
                      <a:pt x="120380" y="185991"/>
                    </a:lnTo>
                    <a:cubicBezTo>
                      <a:pt x="108668" y="185977"/>
                      <a:pt x="97163" y="189076"/>
                      <a:pt x="87043" y="194971"/>
                    </a:cubicBezTo>
                    <a:lnTo>
                      <a:pt x="87043" y="133901"/>
                    </a:lnTo>
                    <a:cubicBezTo>
                      <a:pt x="119552" y="125507"/>
                      <a:pt x="140748" y="94250"/>
                      <a:pt x="136518" y="60942"/>
                    </a:cubicBezTo>
                    <a:cubicBezTo>
                      <a:pt x="132287" y="27634"/>
                      <a:pt x="103950" y="2668"/>
                      <a:pt x="70374" y="2668"/>
                    </a:cubicBezTo>
                    <a:cubicBezTo>
                      <a:pt x="36799" y="2668"/>
                      <a:pt x="8461" y="27634"/>
                      <a:pt x="4231" y="60942"/>
                    </a:cubicBezTo>
                    <a:cubicBezTo>
                      <a:pt x="0" y="94250"/>
                      <a:pt x="21196" y="125507"/>
                      <a:pt x="53705" y="133901"/>
                    </a:cubicBezTo>
                    <a:lnTo>
                      <a:pt x="53705" y="271418"/>
                    </a:lnTo>
                    <a:cubicBezTo>
                      <a:pt x="21196" y="279812"/>
                      <a:pt x="0" y="311070"/>
                      <a:pt x="4231" y="344378"/>
                    </a:cubicBezTo>
                    <a:cubicBezTo>
                      <a:pt x="8461" y="377685"/>
                      <a:pt x="36799" y="402651"/>
                      <a:pt x="70374" y="402651"/>
                    </a:cubicBezTo>
                    <a:cubicBezTo>
                      <a:pt x="103950" y="402651"/>
                      <a:pt x="132287" y="377685"/>
                      <a:pt x="136518" y="344378"/>
                    </a:cubicBezTo>
                    <a:cubicBezTo>
                      <a:pt x="140748" y="311070"/>
                      <a:pt x="119552" y="279812"/>
                      <a:pt x="87043" y="271418"/>
                    </a:cubicBezTo>
                    <a:lnTo>
                      <a:pt x="87043" y="252666"/>
                    </a:lnTo>
                    <a:cubicBezTo>
                      <a:pt x="87043" y="234254"/>
                      <a:pt x="101969" y="219329"/>
                      <a:pt x="120380" y="219329"/>
                    </a:cubicBezTo>
                    <a:lnTo>
                      <a:pt x="270399" y="219329"/>
                    </a:lnTo>
                    <a:cubicBezTo>
                      <a:pt x="307223" y="219329"/>
                      <a:pt x="337074" y="189477"/>
                      <a:pt x="337074" y="152654"/>
                    </a:cubicBezTo>
                    <a:lnTo>
                      <a:pt x="337074" y="133901"/>
                    </a:lnTo>
                    <a:cubicBezTo>
                      <a:pt x="366499" y="126258"/>
                      <a:pt x="387052" y="99711"/>
                      <a:pt x="387080" y="69310"/>
                    </a:cubicBezTo>
                    <a:close/>
                    <a:moveTo>
                      <a:pt x="37037" y="69310"/>
                    </a:moveTo>
                    <a:cubicBezTo>
                      <a:pt x="37037" y="50898"/>
                      <a:pt x="51962" y="35972"/>
                      <a:pt x="70374" y="35972"/>
                    </a:cubicBezTo>
                    <a:cubicBezTo>
                      <a:pt x="88786" y="35972"/>
                      <a:pt x="103712" y="50898"/>
                      <a:pt x="103712" y="69310"/>
                    </a:cubicBezTo>
                    <a:cubicBezTo>
                      <a:pt x="103712" y="87722"/>
                      <a:pt x="88786" y="102647"/>
                      <a:pt x="70374" y="102647"/>
                    </a:cubicBezTo>
                    <a:cubicBezTo>
                      <a:pt x="51962" y="102647"/>
                      <a:pt x="37037" y="87722"/>
                      <a:pt x="37037" y="69310"/>
                    </a:cubicBezTo>
                    <a:close/>
                    <a:moveTo>
                      <a:pt x="103712" y="336010"/>
                    </a:moveTo>
                    <a:cubicBezTo>
                      <a:pt x="103712" y="354422"/>
                      <a:pt x="88786" y="369347"/>
                      <a:pt x="70374" y="369347"/>
                    </a:cubicBezTo>
                    <a:cubicBezTo>
                      <a:pt x="51962" y="369347"/>
                      <a:pt x="37037" y="354422"/>
                      <a:pt x="37037" y="336010"/>
                    </a:cubicBezTo>
                    <a:cubicBezTo>
                      <a:pt x="37037" y="317598"/>
                      <a:pt x="51962" y="302672"/>
                      <a:pt x="70374" y="302672"/>
                    </a:cubicBezTo>
                    <a:cubicBezTo>
                      <a:pt x="88786" y="302672"/>
                      <a:pt x="103712" y="317598"/>
                      <a:pt x="103712" y="336010"/>
                    </a:cubicBezTo>
                    <a:close/>
                    <a:moveTo>
                      <a:pt x="320405" y="102647"/>
                    </a:moveTo>
                    <a:cubicBezTo>
                      <a:pt x="301994" y="102647"/>
                      <a:pt x="287068" y="87722"/>
                      <a:pt x="287068" y="69310"/>
                    </a:cubicBezTo>
                    <a:cubicBezTo>
                      <a:pt x="287068" y="50898"/>
                      <a:pt x="301994" y="35972"/>
                      <a:pt x="320405" y="35972"/>
                    </a:cubicBezTo>
                    <a:cubicBezTo>
                      <a:pt x="338817" y="35972"/>
                      <a:pt x="353743" y="50898"/>
                      <a:pt x="353743" y="69310"/>
                    </a:cubicBezTo>
                    <a:cubicBezTo>
                      <a:pt x="353743" y="87722"/>
                      <a:pt x="338817" y="102647"/>
                      <a:pt x="320405" y="102647"/>
                    </a:cubicBezTo>
                    <a:close/>
                  </a:path>
                </a:pathLst>
              </a:custGeom>
              <a:solidFill>
                <a:srgbClr val="F7F9FC"/>
              </a:solidFill>
              <a:ln>
                <a:noFill/>
              </a:ln>
            </p:spPr>
          </p:sp>
        </p:grpSp>
      </p:grpSp>
      <p:sp>
        <p:nvSpPr>
          <p:cNvPr id="24" name="TextBox 24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0F7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5300" y="419100"/>
            <a:ext cx="301656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23B63"/>
                </a:solidFill>
                <a:latin typeface="Arial"/>
                <a:ea typeface="Microsoft YaHei"/>
                <a:cs typeface="Arial"/>
              </a:rPr>
              <a:t>测试与演示环境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71500" y="1333500"/>
            <a:ext cx="4953000" cy="4095750"/>
            <a:chOff x="571500" y="1333500"/>
            <a:chExt cx="4953000" cy="4095750"/>
          </a:xfrm>
        </p:grpSpPr>
        <p:sp>
          <p:nvSpPr>
            <p:cNvPr id="4" name="Rectangle 4"/>
            <p:cNvSpPr/>
            <p:nvPr/>
          </p:nvSpPr>
          <p:spPr>
            <a:xfrm>
              <a:off x="571500" y="1333500"/>
              <a:ext cx="4953000" cy="4095750"/>
            </a:xfrm>
            <a:prstGeom prst="roundRect">
              <a:avLst>
                <a:gd name="adj" fmla="val 1860"/>
              </a:avLst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3925" y="175736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演示环境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1545" y="2393632"/>
              <a:ext cx="36613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212E"/>
                  </a:solidFill>
                  <a:latin typeface="Arial"/>
                  <a:ea typeface="Microsoft YaHei"/>
                  <a:cs typeface="Arial"/>
                </a:rPr>
                <a:t>DevEco Studio · HarmonyOS 模拟器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1545" y="2869882"/>
              <a:ext cx="26382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212E"/>
                  </a:solidFill>
                  <a:latin typeface="Arial"/>
                  <a:ea typeface="Microsoft YaHei"/>
                  <a:cs typeface="Arial"/>
                </a:rPr>
                <a:t>NestJS 服务 · 26102 端口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1545" y="334613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212E"/>
                  </a:solidFill>
                  <a:latin typeface="Arial"/>
                  <a:ea typeface="Microsoft YaHei"/>
                  <a:cs typeface="Arial"/>
                </a:rPr>
                <a:t>SQLite 初始数据 · REST API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91250" y="1333500"/>
            <a:ext cx="5429250" cy="4095750"/>
            <a:chOff x="6191250" y="1333500"/>
            <a:chExt cx="5429250" cy="4095750"/>
          </a:xfrm>
        </p:grpSpPr>
        <p:sp>
          <p:nvSpPr>
            <p:cNvPr id="10" name="Rectangle 10"/>
            <p:cNvSpPr/>
            <p:nvPr/>
          </p:nvSpPr>
          <p:spPr>
            <a:xfrm>
              <a:off x="6191250" y="1333500"/>
              <a:ext cx="5429250" cy="4095750"/>
            </a:xfrm>
            <a:prstGeom prst="roundRect">
              <a:avLst>
                <a:gd name="adj" fmla="val 1860"/>
              </a:avLst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543675" y="1757362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23B63"/>
                  </a:solidFill>
                  <a:latin typeface="Arial"/>
                  <a:ea typeface="Microsoft YaHei"/>
                  <a:cs typeface="Arial"/>
                </a:rPr>
                <a:t>核心验证路径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51295" y="2393632"/>
              <a:ext cx="29682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212E"/>
                  </a:solidFill>
                  <a:latin typeface="Arial"/>
                  <a:ea typeface="Microsoft YaHei"/>
                  <a:cs typeface="Arial"/>
                </a:rPr>
                <a:t>登录 → 角色工作台 → 知识查询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51295" y="2869882"/>
              <a:ext cx="31883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212E"/>
                  </a:solidFill>
                  <a:latin typeface="Arial"/>
                  <a:ea typeface="Microsoft YaHei"/>
                  <a:cs typeface="Arial"/>
                </a:rPr>
                <a:t>智能问答 → 预填表单 → 提交审批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51295" y="3346132"/>
              <a:ext cx="37823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212E"/>
                  </a:solidFill>
                  <a:latin typeface="Arial"/>
                  <a:ea typeface="Microsoft YaHei"/>
                  <a:cs typeface="Arial"/>
                </a:rPr>
                <a:t>消息、考勤、邮件、组织与协作可打开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55105" y="4140518"/>
              <a:ext cx="38237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273"/>
                  </a:solidFill>
                  <a:latin typeface="Arial"/>
                  <a:ea typeface="Microsoft YaHei"/>
                  <a:cs typeface="Arial"/>
                </a:rPr>
                <a:t>关注图片清晰度、Token 有效性与缺失字段补充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997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B63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63B46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92480" y="1449705"/>
            <a:ext cx="5855970" cy="1807845"/>
            <a:chOff x="792480" y="1449705"/>
            <a:chExt cx="5855970" cy="1807845"/>
          </a:xfrm>
        </p:grpSpPr>
        <p:sp>
          <p:nvSpPr>
            <p:cNvPr id="4" name="TextBox 4"/>
            <p:cNvSpPr txBox="1"/>
            <p:nvPr/>
          </p:nvSpPr>
          <p:spPr>
            <a:xfrm>
              <a:off x="792480" y="1449705"/>
              <a:ext cx="1557719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白泽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6770" y="2312670"/>
              <a:ext cx="390144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以鸿蒙组件化移动端为入口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6770" y="2769870"/>
              <a:ext cx="58216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EAF0F7"/>
                  </a:solidFill>
                  <a:latin typeface="Arial"/>
                  <a:ea typeface="Microsoft YaHei"/>
                  <a:cs typeface="Arial"/>
                </a:rPr>
                <a:t>完成知识、智能与协作的可演示业务闭环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0580" y="3905250"/>
            <a:ext cx="9742170" cy="866775"/>
            <a:chOff x="830580" y="3905250"/>
            <a:chExt cx="9742170" cy="866775"/>
          </a:xfrm>
        </p:grpSpPr>
        <p:sp>
          <p:nvSpPr>
            <p:cNvPr id="8" name="Line 8"/>
            <p:cNvSpPr/>
            <p:nvPr/>
          </p:nvSpPr>
          <p:spPr>
            <a:xfrm>
              <a:off x="857250" y="39052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9050">
              <a:solidFill>
                <a:srgbClr val="D7E0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580" y="4345305"/>
              <a:ext cx="24896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8A38A"/>
                  </a:solidFill>
                  <a:latin typeface="Arial"/>
                  <a:ea typeface="Microsoft YaHei"/>
                  <a:cs typeface="Arial"/>
                </a:rPr>
                <a:t>ArkTS / ArkUI 实践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59580" y="4345305"/>
              <a:ext cx="20135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前后端分层协作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8580" y="4345305"/>
              <a:ext cx="20135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知识到业务执行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3450" y="5453062"/>
            <a:ext cx="1946148" cy="509588"/>
            <a:chOff x="933450" y="5453062"/>
            <a:chExt cx="1946148" cy="509588"/>
          </a:xfrm>
        </p:grpSpPr>
        <p:grpSp>
          <p:nvGrpSpPr>
            <p:cNvPr id="15" name="Group 15"/>
            <p:cNvGrpSpPr/>
            <p:nvPr/>
          </p:nvGrpSpPr>
          <p:grpSpPr>
            <a:xfrm>
              <a:off x="933450" y="5453062"/>
              <a:ext cx="342900" cy="357674"/>
              <a:chOff x="933450" y="5453062"/>
              <a:chExt cx="342900" cy="35767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47738" y="5467350"/>
                <a:ext cx="314325" cy="328827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28827">
                    <a:moveTo>
                      <a:pt x="314325" y="14288"/>
                    </a:moveTo>
                    <a:lnTo>
                      <a:pt x="314325" y="119247"/>
                    </a:lnTo>
                    <a:cubicBezTo>
                      <a:pt x="314325" y="269587"/>
                      <a:pt x="186970" y="319397"/>
                      <a:pt x="161556" y="327845"/>
                    </a:cubicBezTo>
                    <a:cubicBezTo>
                      <a:pt x="158709" y="328827"/>
                      <a:pt x="155616" y="328827"/>
                      <a:pt x="152769" y="327845"/>
                    </a:cubicBezTo>
                    <a:cubicBezTo>
                      <a:pt x="127355" y="319433"/>
                      <a:pt x="0" y="269677"/>
                      <a:pt x="0" y="119283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300038" y="0"/>
                    </a:lnTo>
                    <a:cubicBezTo>
                      <a:pt x="307928" y="0"/>
                      <a:pt x="314325" y="6397"/>
                      <a:pt x="314325" y="14288"/>
                    </a:cubicBezTo>
                    <a:close/>
                  </a:path>
                </a:pathLst>
              </a:custGeom>
              <a:solidFill>
                <a:srgbClr val="E63B4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33450" y="5453062"/>
                <a:ext cx="342900" cy="357674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57674">
                    <a:moveTo>
                      <a:pt x="3143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33552"/>
                    </a:lnTo>
                    <a:cubicBezTo>
                      <a:pt x="0" y="293590"/>
                      <a:pt x="135410" y="346686"/>
                      <a:pt x="162520" y="355705"/>
                    </a:cubicBezTo>
                    <a:cubicBezTo>
                      <a:pt x="168311" y="357674"/>
                      <a:pt x="174589" y="357674"/>
                      <a:pt x="180380" y="355705"/>
                    </a:cubicBezTo>
                    <a:cubicBezTo>
                      <a:pt x="207526" y="346686"/>
                      <a:pt x="342900" y="293590"/>
                      <a:pt x="342900" y="133552"/>
                    </a:cubicBezTo>
                    <a:lnTo>
                      <a:pt x="342900" y="28575"/>
                    </a:lnTo>
                    <a:cubicBezTo>
                      <a:pt x="342900" y="12793"/>
                      <a:pt x="330107" y="0"/>
                      <a:pt x="314325" y="0"/>
                    </a:cubicBezTo>
                    <a:close/>
                    <a:moveTo>
                      <a:pt x="314325" y="133570"/>
                    </a:moveTo>
                    <a:cubicBezTo>
                      <a:pt x="314325" y="273623"/>
                      <a:pt x="195828" y="320415"/>
                      <a:pt x="171450" y="328559"/>
                    </a:cubicBezTo>
                    <a:cubicBezTo>
                      <a:pt x="147286" y="320504"/>
                      <a:pt x="28575" y="273749"/>
                      <a:pt x="28575" y="133570"/>
                    </a:cubicBezTo>
                    <a:lnTo>
                      <a:pt x="28575" y="28575"/>
                    </a:lnTo>
                    <a:lnTo>
                      <a:pt x="314325" y="28575"/>
                    </a:lnTo>
                    <a:close/>
                    <a:moveTo>
                      <a:pt x="89904" y="181558"/>
                    </a:moveTo>
                    <a:cubicBezTo>
                      <a:pt x="84321" y="175976"/>
                      <a:pt x="84321" y="166924"/>
                      <a:pt x="89904" y="161342"/>
                    </a:cubicBezTo>
                    <a:cubicBezTo>
                      <a:pt x="95487" y="155759"/>
                      <a:pt x="104538" y="155759"/>
                      <a:pt x="110121" y="161342"/>
                    </a:cubicBezTo>
                    <a:lnTo>
                      <a:pt x="142875" y="194096"/>
                    </a:lnTo>
                    <a:lnTo>
                      <a:pt x="232779" y="104192"/>
                    </a:lnTo>
                    <a:cubicBezTo>
                      <a:pt x="238362" y="98609"/>
                      <a:pt x="247413" y="98609"/>
                      <a:pt x="252996" y="104192"/>
                    </a:cubicBezTo>
                    <a:cubicBezTo>
                      <a:pt x="258579" y="109774"/>
                      <a:pt x="258579" y="118826"/>
                      <a:pt x="252996" y="124408"/>
                    </a:cubicBezTo>
                    <a:lnTo>
                      <a:pt x="152983" y="224421"/>
                    </a:lnTo>
                    <a:cubicBezTo>
                      <a:pt x="150304" y="227104"/>
                      <a:pt x="146667" y="228611"/>
                      <a:pt x="142875" y="228611"/>
                    </a:cubicBezTo>
                    <a:cubicBezTo>
                      <a:pt x="139083" y="228611"/>
                      <a:pt x="135446" y="227104"/>
                      <a:pt x="132767" y="224421"/>
                    </a:cubicBezTo>
                    <a:close/>
                  </a:path>
                </a:pathLst>
              </a:custGeom>
              <a:solidFill>
                <a:srgbClr val="E63B46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4470" y="547497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7F9FC"/>
                  </a:solidFill>
                  <a:latin typeface="Arial"/>
                  <a:ea typeface="Microsoft YaHei"/>
                  <a:cs typeface="Arial"/>
                </a:rPr>
                <a:t>谢谢老师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16665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0F7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2026-07-17T03:14:54Z</dcterms:created>
  <dcterms:modified xsi:type="dcterms:W3CDTF">2026-07-17T03:14:54Z</dcterms:modified>
  <cp:category/>
  <cp:contentStatus/>
</cp:coreProperties>
</file>