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本次答辩展示智协库，一款面向企业内部知识查询与流程协作的鸿蒙应用。项目希望让查知识、办流程和控风险在同一个移动入口完成。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接下来将从业务痛点、产品方案、工程实现和 HarmonyOS 7 能力四个部分展开。重点是用项目已实现的能力证明方案价值。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传统系统的问题是知识、流程、待办和权限入口同时分散。由此带来查找成本高、填写容易出错和责任难追溯。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员工完成一项业务往往要找制度、问同事、填表和反复追问进度。智协库用知识与流程联动缩短这条路径。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智协库以工作台为统一入口，连接知识库、流程协作、智能助手和安全治理。知识不再孤立存在，而是直接服务业务办理。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项目的核心优势是缩短业务链路。集中入口、知识联动、状态可视和安全留痕共同减少了协作摩擦。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系统按普通员工、审批人、知识管理员和系统管理员划分职责。权限设计围绕实际业务边界，而不是简单隐藏页面。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前端采用 ArkTS 与 ArkUI，并按工作台、知识库、助手和流程等模块拆分。公共模型和服务层使各模块保持清晰协作。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前端负责交互体验，NestJS 负责业务规则和接口边界，Prisma 负责数据访问。SQLite 满足课程演示的持久化需要，也便于后续替换数据库。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用户、知识、流程、通知和审计日志组成统一模型。接口采用统一响应格式，为功能扩展和真实服务接入保留清晰边界。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请假、报销、采购和权限申请复用统一的状态机。提交、审批、驳回、安全确认和通知均可以追踪。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用户先提出业务问题，系统再返回关联制度和可执行流程入口。这样把知识依据放在真正需要办理业务的时刻。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智能助手将自然语言问题转化为知识摘要和下一步操作建议。当前实现强调稳定、可解释的匹配逻辑，并为后续多模态能力预留接口。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高金额报销和采购会触发二次安全确认。权限校验、审批结果、通知和审计日志共同构成风险控制链。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鸿蒙能力必须如实区分已实现、可演示和预留。项目已经接入服务卡片与 OCR 等真实 API，而 Agent 和 Skill 属于后续规划。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项目使用 FormExtensionAbility 和 formProvider 将工作台摘要同步到桌面服务卡片。卡片提供待办和未读信息，并可直接跳转回应用。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OCR 能将图片中的文本转化为关键词和关联知识。知识阅读页还通过字号调节和沉浸光感提升移动端阅读体验。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当前优先保证业务助手的可控性和可解释性。下一步可将查制度、发起流程和查看待办封装为系统级 Skill，但这些能力在当前版本仍属于预留。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项目的新颖性来自知识流程联动、智能辅助、安全审计和鸿蒙原生体验的组合。前后端解耦也使其具备继续演进的工程基础。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智协库针对查知识难、办流程慢和审批依据不统一的问题给出了可运行的解决方案。它以明确的能力边界展示了 HarmonyOS 平台特色，并为后续智能化扩展保留路径。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810500" y="95250"/>
              <a:ext cx="4191000" cy="4191000"/>
            </a:xfrm>
            <a:prstGeom prst="ellipse">
              <a:avLst/>
            </a:prstGeom>
            <a:solidFill>
              <a:srgbClr val="1677FF">
                <a:alpha val="12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3429000"/>
              <a:ext cx="2857500" cy="2857500"/>
            </a:xfrm>
            <a:prstGeom prst="ellipse">
              <a:avLst/>
            </a:prstGeom>
            <a:solidFill>
              <a:srgbClr val="14B8A6">
                <a:alpha val="12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69620" y="1626870"/>
            <a:ext cx="5454015" cy="1506855"/>
            <a:chOff x="769620" y="1626870"/>
            <a:chExt cx="5454015" cy="1506855"/>
          </a:xfrm>
        </p:grpSpPr>
        <p:sp>
          <p:nvSpPr>
            <p:cNvPr id="6" name="TextBox 6"/>
            <p:cNvSpPr txBox="1"/>
            <p:nvPr/>
          </p:nvSpPr>
          <p:spPr>
            <a:xfrm>
              <a:off x="769620" y="1626870"/>
              <a:ext cx="240544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智协库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9630" y="2497455"/>
              <a:ext cx="537400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D8E1EE"/>
                  </a:solidFill>
                  <a:latin typeface="Arial"/>
                  <a:ea typeface="Microsoft YaHei"/>
                  <a:cs typeface="Arial"/>
                </a:rPr>
                <a:t>面向企业内部的知识库与流程协作鸿蒙应用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31242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57150">
              <a:solidFill>
                <a:srgbClr val="14B8A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51535" y="3694748"/>
            <a:ext cx="5510213" cy="762952"/>
            <a:chOff x="851535" y="3694748"/>
            <a:chExt cx="5510213" cy="762952"/>
          </a:xfrm>
        </p:grpSpPr>
        <p:sp>
          <p:nvSpPr>
            <p:cNvPr id="10" name="TextBox 10"/>
            <p:cNvSpPr txBox="1"/>
            <p:nvPr/>
          </p:nvSpPr>
          <p:spPr>
            <a:xfrm>
              <a:off x="851535" y="3694748"/>
              <a:ext cx="551021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让查知识、办流程、控风险在一个移动入口完成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1060" y="4213860"/>
              <a:ext cx="42150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8E1EE"/>
                  </a:solidFill>
                  <a:latin typeface="Arial"/>
                  <a:ea typeface="Microsoft YaHei"/>
                  <a:cs typeface="Arial"/>
                </a:rPr>
                <a:t>HarmonyOS · ArkTS · ArkUI · NestJS · Prisma · SQLite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81750" y="1600200"/>
            <a:ext cx="5334000" cy="4495800"/>
            <a:chOff x="6381750" y="1600200"/>
            <a:chExt cx="5334000" cy="4495800"/>
          </a:xfrm>
        </p:grpSpPr>
        <p:sp>
          <p:nvSpPr>
            <p:cNvPr id="13" name="Ellipse 13"/>
            <p:cNvSpPr/>
            <p:nvPr/>
          </p:nvSpPr>
          <p:spPr>
            <a:xfrm>
              <a:off x="8286750" y="2667000"/>
              <a:ext cx="1524000" cy="15240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w="28575">
              <a:solidFill>
                <a:srgbClr val="1677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73858" y="31584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统一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73858" y="344424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协作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334250" y="2095500"/>
              <a:ext cx="1143000" cy="819150"/>
            </a:xfrm>
            <a:custGeom>
              <a:avLst/>
              <a:gdLst/>
              <a:ahLst/>
              <a:cxnLst/>
              <a:rect l="l" t="t" r="r" b="b"/>
              <a:pathLst>
                <a:path w="1143000" h="819150">
                  <a:moveTo>
                    <a:pt x="1143000" y="8191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4B8A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696450" y="2095500"/>
              <a:ext cx="1009650" cy="809625"/>
            </a:xfrm>
            <a:custGeom>
              <a:avLst/>
              <a:gdLst/>
              <a:ahLst/>
              <a:cxnLst/>
              <a:rect l="l" t="t" r="r" b="b"/>
              <a:pathLst>
                <a:path w="1009650" h="809625">
                  <a:moveTo>
                    <a:pt x="0" y="809625"/>
                  </a:moveTo>
                  <a:lnTo>
                    <a:pt x="1009650" y="0"/>
                  </a:lnTo>
                </a:path>
              </a:pathLst>
            </a:custGeom>
            <a:noFill/>
            <a:ln w="28575">
              <a:solidFill>
                <a:srgbClr val="14B8A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048750" y="41910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28575">
              <a:solidFill>
                <a:srgbClr val="14B8A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81750" y="16002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7016" y="18792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知识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001250" y="16002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606516" y="18792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流程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91500" y="53340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96766" y="56130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2965" y="6211252"/>
            <a:ext cx="10389870" cy="213360"/>
            <a:chOff x="862965" y="6211252"/>
            <a:chExt cx="10389870" cy="213360"/>
          </a:xfrm>
        </p:grpSpPr>
        <p:sp>
          <p:nvSpPr>
            <p:cNvPr id="26" name="TextBox 26"/>
            <p:cNvSpPr txBox="1"/>
            <p:nvPr/>
          </p:nvSpPr>
          <p:spPr>
            <a:xfrm>
              <a:off x="862965" y="6211252"/>
              <a:ext cx="21759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移动软件开发课程设计答辩 · 2026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72146" y="62112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3405" y="454342"/>
            <a:ext cx="11008995" cy="579120"/>
            <a:chOff x="573405" y="454342"/>
            <a:chExt cx="11008995" cy="579120"/>
          </a:xfrm>
        </p:grpSpPr>
        <p:sp>
          <p:nvSpPr>
            <p:cNvPr id="3" name="TextBox 3"/>
            <p:cNvSpPr txBox="1"/>
            <p:nvPr/>
          </p:nvSpPr>
          <p:spPr>
            <a:xfrm>
              <a:off x="573405" y="454342"/>
              <a:ext cx="68562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从问题出发，证明方案价值与工程落地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990600"/>
              <a:ext cx="10972800" cy="28575"/>
            </a:xfrm>
            <a:prstGeom prst="rect">
              <a:avLst/>
            </a:prstGeom>
            <a:solidFill>
              <a:srgbClr val="D8E1E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257300" y="1714500"/>
            <a:ext cx="9525" cy="4095750"/>
            <a:chOff x="1257300" y="1714500"/>
            <a:chExt cx="9525" cy="4095750"/>
          </a:xfrm>
        </p:grpSpPr>
        <p:sp>
          <p:nvSpPr>
            <p:cNvPr id="6" name="Line 6"/>
            <p:cNvSpPr/>
            <p:nvPr/>
          </p:nvSpPr>
          <p:spPr>
            <a:xfrm>
              <a:off x="1257300" y="17145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38100">
              <a:solidFill>
                <a:srgbClr val="1677FF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71550" y="1619250"/>
            <a:ext cx="4010978" cy="681038"/>
            <a:chOff x="971550" y="1619250"/>
            <a:chExt cx="4010978" cy="681038"/>
          </a:xfrm>
        </p:grpSpPr>
        <p:sp>
          <p:nvSpPr>
            <p:cNvPr id="8" name="Ellipse 8"/>
            <p:cNvSpPr/>
            <p:nvPr/>
          </p:nvSpPr>
          <p:spPr>
            <a:xfrm>
              <a:off x="971550" y="1619250"/>
              <a:ext cx="571500" cy="5715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2736" y="18192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80235" y="16754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业务痛点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87855" y="20259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解释旧式协作系统为何效率低、难追溯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1550" y="2571750"/>
            <a:ext cx="4371023" cy="681038"/>
            <a:chOff x="971550" y="2571750"/>
            <a:chExt cx="4371023" cy="681038"/>
          </a:xfrm>
        </p:grpSpPr>
        <p:sp>
          <p:nvSpPr>
            <p:cNvPr id="13" name="Ellipse 13"/>
            <p:cNvSpPr/>
            <p:nvPr/>
          </p:nvSpPr>
          <p:spPr>
            <a:xfrm>
              <a:off x="971550" y="2571750"/>
              <a:ext cx="571500" cy="5715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2736" y="27717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80235" y="26279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产品方案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87855" y="29784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说明知识、流程、消息与安全如何形成闭环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1550" y="3524250"/>
            <a:ext cx="5775198" cy="681038"/>
            <a:chOff x="971550" y="3524250"/>
            <a:chExt cx="5775198" cy="681038"/>
          </a:xfrm>
        </p:grpSpPr>
        <p:sp>
          <p:nvSpPr>
            <p:cNvPr id="18" name="Ellipse 18"/>
            <p:cNvSpPr/>
            <p:nvPr/>
          </p:nvSpPr>
          <p:spPr>
            <a:xfrm>
              <a:off x="971550" y="3524250"/>
              <a:ext cx="571500" cy="5715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22736" y="37242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80235" y="35804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工程实现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87855" y="3930968"/>
              <a:ext cx="48588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展示 ArkTS/ArkUI、NestJS、Prisma 与 SQLite 的职责边界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1550" y="4476750"/>
            <a:ext cx="4371023" cy="681038"/>
            <a:chOff x="971550" y="4476750"/>
            <a:chExt cx="4371023" cy="681038"/>
          </a:xfrm>
        </p:grpSpPr>
        <p:sp>
          <p:nvSpPr>
            <p:cNvPr id="23" name="Ellipse 23"/>
            <p:cNvSpPr/>
            <p:nvPr/>
          </p:nvSpPr>
          <p:spPr>
            <a:xfrm>
              <a:off x="971550" y="4476750"/>
              <a:ext cx="571500" cy="571500"/>
            </a:xfrm>
            <a:prstGeom prst="ellipse">
              <a:avLst/>
            </a:prstGeom>
            <a:solidFill>
              <a:srgbClr val="14B8A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2736" y="46767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80235" y="4532948"/>
              <a:ext cx="26433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HarmonyOS 7 与创新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87855" y="48834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区分已实现、可演示和接口预留的原生能力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6265" y="6363652"/>
            <a:ext cx="10999470" cy="213360"/>
            <a:chOff x="596265" y="6363652"/>
            <a:chExt cx="10999470" cy="213360"/>
          </a:xfrm>
        </p:grpSpPr>
        <p:sp>
          <p:nvSpPr>
            <p:cNvPr id="28" name="TextBox 28"/>
            <p:cNvSpPr txBox="1"/>
            <p:nvPr/>
          </p:nvSpPr>
          <p:spPr>
            <a:xfrm>
              <a:off x="596265" y="6363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智协库课程答辩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15046" y="636365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  <p:bldP spid="22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5305" y="359092"/>
            <a:ext cx="6856238" cy="760096"/>
            <a:chOff x="535305" y="359092"/>
            <a:chExt cx="6856238" cy="760096"/>
          </a:xfrm>
        </p:grpSpPr>
        <p:sp>
          <p:nvSpPr>
            <p:cNvPr id="3" name="TextBox 3"/>
            <p:cNvSpPr txBox="1"/>
            <p:nvPr/>
          </p:nvSpPr>
          <p:spPr>
            <a:xfrm>
              <a:off x="535305" y="359092"/>
              <a:ext cx="68562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知识、流程与待办分散，造成协作摩擦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44868"/>
              <a:ext cx="5434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问题并非单个功能缺失，而是入口、依据、状态和责任链同时割裂。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2095500"/>
            <a:ext cx="10572750" cy="3238500"/>
            <a:chOff x="1047750" y="2095500"/>
            <a:chExt cx="10572750" cy="3238500"/>
          </a:xfrm>
        </p:grpSpPr>
        <p:sp>
          <p:nvSpPr>
            <p:cNvPr id="6" name="Line 6"/>
            <p:cNvSpPr/>
            <p:nvPr/>
          </p:nvSpPr>
          <p:spPr>
            <a:xfrm>
              <a:off x="1047750" y="37147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47625">
              <a:solidFill>
                <a:srgbClr val="0B1F3A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9620250" y="3333750"/>
              <a:ext cx="476250" cy="762000"/>
            </a:xfrm>
            <a:custGeom>
              <a:avLst/>
              <a:gdLst/>
              <a:ahLst/>
              <a:cxnLst/>
              <a:rect l="l" t="t" r="r" b="b"/>
              <a:pathLst>
                <a:path w="476250" h="762000">
                  <a:moveTo>
                    <a:pt x="0" y="381000"/>
                  </a:moveTo>
                  <a:lnTo>
                    <a:pt x="476250" y="0"/>
                  </a:lnTo>
                  <a:lnTo>
                    <a:pt x="476250" y="76200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096500" y="3238500"/>
              <a:ext cx="1524000" cy="952500"/>
            </a:xfrm>
            <a:prstGeom prst="roundRect">
              <a:avLst>
                <a:gd name="adj" fmla="val 8000"/>
              </a:avLst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76915" y="34685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低效且难追溯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91299" y="377856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的内部协作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524000" y="2095500"/>
              <a:ext cx="1143000" cy="1619250"/>
            </a:xfrm>
            <a:custGeom>
              <a:avLst/>
              <a:gdLst/>
              <a:ahLst/>
              <a:cxnLst/>
              <a:rect l="l" t="t" r="r" b="b"/>
              <a:pathLst>
                <a:path w="1143000" h="1619250">
                  <a:moveTo>
                    <a:pt x="1143000" y="16192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677F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333750" y="3714750"/>
              <a:ext cx="1143000" cy="1619250"/>
            </a:xfrm>
            <a:custGeom>
              <a:avLst/>
              <a:gdLst/>
              <a:ahLst/>
              <a:cxnLst/>
              <a:rect l="l" t="t" r="r" b="b"/>
              <a:pathLst>
                <a:path w="1143000" h="1619250">
                  <a:moveTo>
                    <a:pt x="1143000" y="0"/>
                  </a:moveTo>
                  <a:lnTo>
                    <a:pt x="0" y="1619250"/>
                  </a:lnTo>
                </a:path>
              </a:pathLst>
            </a:custGeom>
            <a:noFill/>
            <a:ln w="28575">
              <a:solidFill>
                <a:srgbClr val="1677F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143500" y="2095500"/>
              <a:ext cx="1143000" cy="1619250"/>
            </a:xfrm>
            <a:custGeom>
              <a:avLst/>
              <a:gdLst/>
              <a:ahLst/>
              <a:cxnLst/>
              <a:rect l="l" t="t" r="r" b="b"/>
              <a:pathLst>
                <a:path w="1143000" h="1619250">
                  <a:moveTo>
                    <a:pt x="1143000" y="16192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677F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953250" y="3714750"/>
              <a:ext cx="1143000" cy="1619250"/>
            </a:xfrm>
            <a:custGeom>
              <a:avLst/>
              <a:gdLst/>
              <a:ahLst/>
              <a:cxnLst/>
              <a:rect l="l" t="t" r="r" b="b"/>
              <a:pathLst>
                <a:path w="1143000" h="1619250">
                  <a:moveTo>
                    <a:pt x="1143000" y="0"/>
                  </a:moveTo>
                  <a:lnTo>
                    <a:pt x="0" y="1619250"/>
                  </a:lnTo>
                </a:path>
              </a:pathLst>
            </a:custGeom>
            <a:noFill/>
            <a:ln w="28575">
              <a:solidFill>
                <a:srgbClr val="1677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572500" y="2095500"/>
              <a:ext cx="476250" cy="1619250"/>
            </a:xfrm>
            <a:custGeom>
              <a:avLst/>
              <a:gdLst/>
              <a:ahLst/>
              <a:cxnLst/>
              <a:rect l="l" t="t" r="r" b="b"/>
              <a:pathLst>
                <a:path w="476250" h="1619250">
                  <a:moveTo>
                    <a:pt x="476250" y="16192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677FF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34390" y="1663065"/>
            <a:ext cx="8348663" cy="4561523"/>
            <a:chOff x="834390" y="1663065"/>
            <a:chExt cx="8348663" cy="4561523"/>
          </a:xfrm>
        </p:grpSpPr>
        <p:sp>
          <p:nvSpPr>
            <p:cNvPr id="17" name="TextBox 17"/>
            <p:cNvSpPr txBox="1"/>
            <p:nvPr/>
          </p:nvSpPr>
          <p:spPr>
            <a:xfrm>
              <a:off x="834390" y="16630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入口分散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0105" y="1997392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制度难检索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44140" y="5615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流程脱节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49855" y="59502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填写缺少依据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53890" y="16630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待办滞后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9605" y="1997392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状态通知不同步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63640" y="5615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权限模糊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69355" y="59502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责任边界不清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82890" y="16630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风控缺位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88605" y="1997392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关键操作难留痕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845243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传统路径链路长、容易漏项，且审批依据不可见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66750" y="1381125"/>
            <a:ext cx="4857750" cy="4476750"/>
            <a:chOff x="666750" y="1381125"/>
            <a:chExt cx="4857750" cy="4476750"/>
          </a:xfrm>
        </p:grpSpPr>
        <p:sp>
          <p:nvSpPr>
            <p:cNvPr id="4" name="Rectangle 4"/>
            <p:cNvSpPr/>
            <p:nvPr/>
          </p:nvSpPr>
          <p:spPr>
            <a:xfrm>
              <a:off x="666750" y="1381125"/>
              <a:ext cx="4857750" cy="4476750"/>
            </a:xfrm>
            <a:prstGeom prst="roundRect">
              <a:avLst>
                <a:gd name="adj" fmla="val 1702"/>
              </a:avLst>
            </a:prstGeom>
            <a:solidFill>
              <a:srgbClr val="F5F8FC"/>
            </a:solidFill>
            <a:ln w="9525">
              <a:solidFill>
                <a:srgbClr val="D8E1E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1080" y="167830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传统协作路径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4890" y="2377440"/>
              <a:ext cx="25180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找制度 → 问同事 → 填表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4890" y="2948940"/>
              <a:ext cx="224199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等待审批 → 追问进度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8700" y="383857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查找成本高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8700" y="4219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字段容易遗漏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8700" y="46005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审批依据不统一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0" y="1381125"/>
            <a:ext cx="4857750" cy="4476750"/>
            <a:chOff x="6667500" y="1381125"/>
            <a:chExt cx="4857750" cy="4476750"/>
          </a:xfrm>
        </p:grpSpPr>
        <p:sp>
          <p:nvSpPr>
            <p:cNvPr id="12" name="Rectangle 12"/>
            <p:cNvSpPr/>
            <p:nvPr/>
          </p:nvSpPr>
          <p:spPr>
            <a:xfrm>
              <a:off x="6667500" y="1381125"/>
              <a:ext cx="4857750" cy="4476750"/>
            </a:xfrm>
            <a:prstGeom prst="roundRect">
              <a:avLst>
                <a:gd name="adj" fmla="val 1702"/>
              </a:avLst>
            </a:prstGeom>
            <a:solidFill>
              <a:srgbClr val="F5F8FC"/>
            </a:solidFill>
            <a:ln w="9525">
              <a:solidFill>
                <a:srgbClr val="D8E1E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21830" y="167830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9F6E"/>
                  </a:solidFill>
                  <a:latin typeface="Arial"/>
                  <a:ea typeface="Microsoft YaHei"/>
                  <a:cs typeface="Arial"/>
                </a:rPr>
                <a:t>智协库协作路径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25640" y="2377440"/>
              <a:ext cx="29980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问一句 → 看依据 → 直接发起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25640" y="2948940"/>
              <a:ext cx="224199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状态可见 → 通知留痕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29450" y="38385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知识与流程联动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29450" y="42195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统一待办与消息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29450" y="460057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高风险操作可审计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76543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智协库将四类高频能力收敛为一个移动闭环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048250" y="2476500"/>
            <a:ext cx="2095500" cy="2095500"/>
            <a:chOff x="5048250" y="2476500"/>
            <a:chExt cx="2095500" cy="2095500"/>
          </a:xfrm>
        </p:grpSpPr>
        <p:sp>
          <p:nvSpPr>
            <p:cNvPr id="4" name="Ellipse 4"/>
            <p:cNvSpPr/>
            <p:nvPr/>
          </p:nvSpPr>
          <p:spPr>
            <a:xfrm>
              <a:off x="5048250" y="2476500"/>
              <a:ext cx="2095500" cy="2095500"/>
            </a:xfrm>
            <a:prstGeom prst="ellipse">
              <a:avLst/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61457" y="3169920"/>
              <a:ext cx="106908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智协库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24976" y="363188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统一工作台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3000" y="2000250"/>
            <a:ext cx="9906000" cy="3238500"/>
            <a:chOff x="1143000" y="2000250"/>
            <a:chExt cx="9906000" cy="3238500"/>
          </a:xfrm>
        </p:grpSpPr>
        <p:sp>
          <p:nvSpPr>
            <p:cNvPr id="8" name="Rectangle 8"/>
            <p:cNvSpPr/>
            <p:nvPr/>
          </p:nvSpPr>
          <p:spPr>
            <a:xfrm>
              <a:off x="1143000" y="2000250"/>
              <a:ext cx="2381250" cy="857250"/>
            </a:xfrm>
            <a:prstGeom prst="roundRect">
              <a:avLst>
                <a:gd name="adj" fmla="val 8889"/>
              </a:avLst>
            </a:prstGeom>
            <a:solidFill>
              <a:srgbClr val="F5F8FC"/>
            </a:solidFill>
            <a:ln w="9525">
              <a:solidFill>
                <a:srgbClr val="1677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86902" y="2297430"/>
              <a:ext cx="8934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知识库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667750" y="2000250"/>
              <a:ext cx="2381250" cy="857250"/>
            </a:xfrm>
            <a:prstGeom prst="roundRect">
              <a:avLst>
                <a:gd name="adj" fmla="val 8889"/>
              </a:avLst>
            </a:prstGeom>
            <a:solidFill>
              <a:srgbClr val="F5F8FC"/>
            </a:solidFill>
            <a:ln w="9525">
              <a:solidFill>
                <a:srgbClr val="1677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71635" y="2297430"/>
              <a:ext cx="11734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流程协作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43000" y="4381500"/>
              <a:ext cx="2381250" cy="857250"/>
            </a:xfrm>
            <a:prstGeom prst="roundRect">
              <a:avLst>
                <a:gd name="adj" fmla="val 8889"/>
              </a:avLst>
            </a:prstGeom>
            <a:solidFill>
              <a:srgbClr val="F5F8FC"/>
            </a:solidFill>
            <a:ln w="9525">
              <a:solidFill>
                <a:srgbClr val="14B8A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46885" y="4678680"/>
              <a:ext cx="11734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智能助手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667750" y="4381500"/>
              <a:ext cx="2381250" cy="857250"/>
            </a:xfrm>
            <a:prstGeom prst="roundRect">
              <a:avLst>
                <a:gd name="adj" fmla="val 8889"/>
              </a:avLst>
            </a:prstGeom>
            <a:solidFill>
              <a:srgbClr val="F5F8FC"/>
            </a:solidFill>
            <a:ln w="9525">
              <a:solidFill>
                <a:srgbClr val="14B8A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71635" y="4678680"/>
              <a:ext cx="11734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安全治理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76543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优势不止于功能齐全，而是将业务链路缩短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71500" y="1524000"/>
            <a:ext cx="10858500" cy="3714750"/>
            <a:chOff x="571500" y="1524000"/>
            <a:chExt cx="10858500" cy="3714750"/>
          </a:xfrm>
        </p:grpSpPr>
        <p:sp>
          <p:nvSpPr>
            <p:cNvPr id="4" name="Rectangle 4"/>
            <p:cNvSpPr/>
            <p:nvPr/>
          </p:nvSpPr>
          <p:spPr>
            <a:xfrm>
              <a:off x="571500" y="1524000"/>
              <a:ext cx="2571750" cy="3714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3333750" y="1524000"/>
              <a:ext cx="2571750" cy="3714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0" y="1524000"/>
              <a:ext cx="2571750" cy="3714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858250" y="1524000"/>
              <a:ext cx="2571750" cy="3714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20593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集中入口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8200" y="2695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减少应用切换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92830" y="20593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知识联动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00450" y="2695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减少填单错误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5080" y="20593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B8A6"/>
                  </a:solidFill>
                  <a:latin typeface="Arial"/>
                  <a:ea typeface="Microsoft YaHei"/>
                  <a:cs typeface="Arial"/>
                </a:rPr>
                <a:t>状态可视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62700" y="2695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减少人工催办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17330" y="20593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安全留痕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24950" y="26955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关键操作可审计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76543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四类角色覆盖使用、审批、维护与治理边界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44763" y="1333500"/>
            <a:ext cx="9515976" cy="2890838"/>
            <a:chOff x="1344763" y="1333500"/>
            <a:chExt cx="9515976" cy="2890838"/>
          </a:xfrm>
        </p:grpSpPr>
        <p:sp>
          <p:nvSpPr>
            <p:cNvPr id="4" name="Line 4"/>
            <p:cNvSpPr/>
            <p:nvPr/>
          </p:nvSpPr>
          <p:spPr>
            <a:xfrm>
              <a:off x="2095500" y="180975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4000500" y="0"/>
                  </a:moveTo>
                  <a:lnTo>
                    <a:pt x="0" y="1524000"/>
                  </a:lnTo>
                </a:path>
              </a:pathLst>
            </a:custGeom>
            <a:noFill/>
            <a:ln w="28575">
              <a:solidFill>
                <a:srgbClr val="1677FF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4762500" y="1809750"/>
              <a:ext cx="1333500" cy="1524000"/>
            </a:xfrm>
            <a:custGeom>
              <a:avLst/>
              <a:gdLst/>
              <a:ahLst/>
              <a:cxnLst/>
              <a:rect l="l" t="t" r="r" b="b"/>
              <a:pathLst>
                <a:path w="1333500" h="1524000">
                  <a:moveTo>
                    <a:pt x="1333500" y="0"/>
                  </a:moveTo>
                  <a:lnTo>
                    <a:pt x="0" y="1524000"/>
                  </a:lnTo>
                </a:path>
              </a:pathLst>
            </a:custGeom>
            <a:noFill/>
            <a:ln w="28575">
              <a:solidFill>
                <a:srgbClr val="1677FF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809750"/>
              <a:ext cx="1333500" cy="1524000"/>
            </a:xfrm>
            <a:custGeom>
              <a:avLst/>
              <a:gdLst/>
              <a:ahLst/>
              <a:cxnLst/>
              <a:rect l="l" t="t" r="r" b="b"/>
              <a:pathLst>
                <a:path w="1333500" h="1524000">
                  <a:moveTo>
                    <a:pt x="0" y="0"/>
                  </a:moveTo>
                  <a:lnTo>
                    <a:pt x="1333500" y="1524000"/>
                  </a:lnTo>
                </a:path>
              </a:pathLst>
            </a:custGeom>
            <a:noFill/>
            <a:ln w="28575">
              <a:solidFill>
                <a:srgbClr val="1677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1809750"/>
              <a:ext cx="4000500" cy="1524000"/>
            </a:xfrm>
            <a:custGeom>
              <a:avLst/>
              <a:gdLst/>
              <a:ahLst/>
              <a:cxnLst/>
              <a:rect l="l" t="t" r="r" b="b"/>
              <a:pathLst>
                <a:path w="4000500" h="1524000">
                  <a:moveTo>
                    <a:pt x="0" y="0"/>
                  </a:moveTo>
                  <a:lnTo>
                    <a:pt x="4000500" y="1524000"/>
                  </a:lnTo>
                </a:path>
              </a:pathLst>
            </a:custGeom>
            <a:noFill/>
            <a:ln w="28575">
              <a:solidFill>
                <a:srgbClr val="1677F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667250" y="1333500"/>
              <a:ext cx="2857500" cy="857250"/>
            </a:xfrm>
            <a:prstGeom prst="roundRect">
              <a:avLst>
                <a:gd name="adj" fmla="val 8889"/>
              </a:avLst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29225" y="1630680"/>
              <a:ext cx="17335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协作权限模型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4667" y="35042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普通员工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4763" y="3950018"/>
              <a:ext cx="1501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查知识 · 发起流程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8184" y="35042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审批人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763" y="3950018"/>
              <a:ext cx="1501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处理待办 · 看依据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22150" y="350424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4B8A6"/>
                  </a:solidFill>
                  <a:latin typeface="Arial"/>
                  <a:ea typeface="Microsoft YaHei"/>
                  <a:cs typeface="Arial"/>
                </a:rPr>
                <a:t>知识管理员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68775" y="3950018"/>
              <a:ext cx="13214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维护 · 发布知识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89150" y="350424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系统管理员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32262" y="3950018"/>
              <a:ext cx="15284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角色 · 模板 · 审计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9310395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ArkTS 与 ArkUI 将业务拆为独立、可演示的功能模块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66750" y="1381125"/>
            <a:ext cx="10858500" cy="4286250"/>
            <a:chOff x="666750" y="1381125"/>
            <a:chExt cx="10858500" cy="4286250"/>
          </a:xfrm>
        </p:grpSpPr>
        <p:sp>
          <p:nvSpPr>
            <p:cNvPr id="4" name="Rectangle 4"/>
            <p:cNvSpPr/>
            <p:nvPr/>
          </p:nvSpPr>
          <p:spPr>
            <a:xfrm>
              <a:off x="666750" y="1381125"/>
              <a:ext cx="10858500" cy="4286250"/>
            </a:xfrm>
            <a:prstGeom prst="roundRect">
              <a:avLst>
                <a:gd name="adj" fmla="val 1778"/>
              </a:avLst>
            </a:prstGeom>
            <a:solidFill>
              <a:srgbClr val="FFFFFF"/>
            </a:solidFill>
            <a:ln w="9525">
              <a:solidFill>
                <a:srgbClr val="D8E1EE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952500" y="1714500"/>
              <a:ext cx="10287000" cy="666750"/>
            </a:xfrm>
            <a:prstGeom prst="roundRect">
              <a:avLst>
                <a:gd name="adj" fmla="val 11429"/>
              </a:avLst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672930" y="1916430"/>
              <a:ext cx="484613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智协库应用壳层 · 公共模型 · 服务层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143000" y="2857500"/>
              <a:ext cx="2095500" cy="1143000"/>
            </a:xfrm>
            <a:prstGeom prst="roundRect">
              <a:avLst>
                <a:gd name="adj" fmla="val 6667"/>
              </a:avLst>
            </a:prstGeom>
            <a:solidFill>
              <a:srgbClr val="F5F8FC"/>
            </a:solidFill>
            <a:ln w="9525">
              <a:solidFill>
                <a:srgbClr val="1677F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524250" y="2857500"/>
              <a:ext cx="2095500" cy="1143000"/>
            </a:xfrm>
            <a:prstGeom prst="roundRect">
              <a:avLst>
                <a:gd name="adj" fmla="val 6667"/>
              </a:avLst>
            </a:prstGeom>
            <a:solidFill>
              <a:srgbClr val="F5F8FC"/>
            </a:solidFill>
            <a:ln w="9525">
              <a:solidFill>
                <a:srgbClr val="1677F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905500" y="2857500"/>
              <a:ext cx="2095500" cy="1143000"/>
            </a:xfrm>
            <a:prstGeom prst="roundRect">
              <a:avLst>
                <a:gd name="adj" fmla="val 6667"/>
              </a:avLst>
            </a:prstGeom>
            <a:solidFill>
              <a:srgbClr val="F5F8FC"/>
            </a:solidFill>
            <a:ln w="9525">
              <a:solidFill>
                <a:srgbClr val="1677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286750" y="2857500"/>
              <a:ext cx="2095500" cy="1143000"/>
            </a:xfrm>
            <a:prstGeom prst="roundRect">
              <a:avLst>
                <a:gd name="adj" fmla="val 6667"/>
              </a:avLst>
            </a:prstGeom>
            <a:solidFill>
              <a:srgbClr val="F5F8FC"/>
            </a:solidFill>
            <a:ln w="9525">
              <a:solidFill>
                <a:srgbClr val="1677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91891" y="3321844"/>
              <a:ext cx="7977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73141" y="3321844"/>
              <a:ext cx="7977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知识库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29375" y="3321844"/>
              <a:ext cx="1047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智能助手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85609" y="3321844"/>
              <a:ext cx="129778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流程与消息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76448" y="4687729"/>
              <a:ext cx="483910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components · services · models · mock · pages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653699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移动端、REST API 与数据层职责清晰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66750" y="1714500"/>
            <a:ext cx="10763250" cy="3238500"/>
            <a:chOff x="666750" y="1714500"/>
            <a:chExt cx="10763250" cy="3238500"/>
          </a:xfrm>
        </p:grpSpPr>
        <p:sp>
          <p:nvSpPr>
            <p:cNvPr id="4" name="Rectangle 4"/>
            <p:cNvSpPr/>
            <p:nvPr/>
          </p:nvSpPr>
          <p:spPr>
            <a:xfrm>
              <a:off x="666750" y="1714500"/>
              <a:ext cx="2571750" cy="3238500"/>
            </a:xfrm>
            <a:prstGeom prst="roundRect">
              <a:avLst>
                <a:gd name="adj" fmla="val 2963"/>
              </a:avLst>
            </a:prstGeom>
            <a:solidFill>
              <a:srgbClr val="F5F8FC"/>
            </a:solidFill>
            <a:ln w="9525">
              <a:solidFill>
                <a:srgbClr val="1677FF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1264" y="2106930"/>
              <a:ext cx="23027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HarmonyOS 前端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58541" y="2695575"/>
              <a:ext cx="5881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ArkTS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83544" y="3057525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ArkUI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33512" y="341947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交互与体验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333750" y="33337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5">
              <a:solidFill>
                <a:srgbClr val="1677FF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457700" y="321945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20955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677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209163" y="2966085"/>
              <a:ext cx="1582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Bearer Token + REST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0" y="1714500"/>
              <a:ext cx="2571750" cy="3238500"/>
            </a:xfrm>
            <a:prstGeom prst="roundRect">
              <a:avLst>
                <a:gd name="adj" fmla="val 2963"/>
              </a:avLst>
            </a:prstGeom>
            <a:solidFill>
              <a:srgbClr val="F5F8FC"/>
            </a:solidFill>
            <a:ln w="9525">
              <a:solidFill>
                <a:srgbClr val="14B8A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33632" y="21069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业务服务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89232" y="2695575"/>
              <a:ext cx="15182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NestJS Modules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99221" y="3057525"/>
              <a:ext cx="16983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认证 · 知识 · 流程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14261" y="3419475"/>
              <a:ext cx="10682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通知 · 助手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429500" y="33337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5">
              <a:solidFill>
                <a:srgbClr val="14B8A6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8553450" y="321945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20955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4B8A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858250" y="1714500"/>
              <a:ext cx="2571750" cy="3238500"/>
            </a:xfrm>
            <a:prstGeom prst="roundRect">
              <a:avLst>
                <a:gd name="adj" fmla="val 2963"/>
              </a:avLst>
            </a:prstGeom>
            <a:solidFill>
              <a:srgbClr val="F5F8FC"/>
            </a:solidFill>
            <a:ln w="9525">
              <a:solidFill>
                <a:srgbClr val="F59E0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9382" y="21069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数据访问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65005" y="2695575"/>
              <a:ext cx="11582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Prisma ORM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00034" y="3057525"/>
              <a:ext cx="6881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SQLite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24988" y="34194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课程演示持久化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964958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用户、知识、流程、通知和审计日志形成统一数据闭环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45795" y="1250632"/>
            <a:ext cx="10879455" cy="1225868"/>
            <a:chOff x="645795" y="1250632"/>
            <a:chExt cx="10879455" cy="1225868"/>
          </a:xfrm>
        </p:grpSpPr>
        <p:sp>
          <p:nvSpPr>
            <p:cNvPr id="4" name="TextBox 4"/>
            <p:cNvSpPr txBox="1"/>
            <p:nvPr/>
          </p:nvSpPr>
          <p:spPr>
            <a:xfrm>
              <a:off x="645795" y="12506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核心数据对象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66750" y="171450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952750" y="171450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238750" y="171450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524750" y="171450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810750" y="17145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7928" y="2001679"/>
              <a:ext cx="115314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User / Role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14139" y="2001679"/>
              <a:ext cx="177272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KnowledgeArticle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52883" y="2001679"/>
              <a:ext cx="186723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WorkflowInstance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8171" y="2001679"/>
              <a:ext cx="126865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Notification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12193" y="2001679"/>
              <a:ext cx="91161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AuditLog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5795" y="3155632"/>
            <a:ext cx="9926955" cy="1844993"/>
            <a:chOff x="645795" y="3155632"/>
            <a:chExt cx="9926955" cy="1844993"/>
          </a:xfrm>
        </p:grpSpPr>
        <p:sp>
          <p:nvSpPr>
            <p:cNvPr id="16" name="TextBox 16"/>
            <p:cNvSpPr txBox="1"/>
            <p:nvPr/>
          </p:nvSpPr>
          <p:spPr>
            <a:xfrm>
              <a:off x="645795" y="31556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B8A6"/>
                  </a:solidFill>
                  <a:latin typeface="Arial"/>
                  <a:ea typeface="Microsoft YaHei"/>
                  <a:cs typeface="Arial"/>
                </a:rPr>
                <a:t>接口域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3702844"/>
              <a:ext cx="5476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66938" y="3702844"/>
              <a:ext cx="5476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知识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00438" y="3702844"/>
              <a:ext cx="5476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流程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33938" y="3702844"/>
              <a:ext cx="5476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通知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67438" y="3702844"/>
              <a:ext cx="5476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考勤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00938" y="3702844"/>
              <a:ext cx="5476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邮件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34438" y="3702844"/>
              <a:ext cx="5476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助手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57250" y="4191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28575">
              <a:solidFill>
                <a:srgbClr val="D8E1E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7700" y="4695825"/>
              <a:ext cx="87891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统一响应格式：code / message / data；模型与接口边界为真实服务和后续数据库迁移提供基础。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68562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流程从发起到通知形成可追踪的状态机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66800" y="2971800"/>
            <a:ext cx="9867900" cy="1104900"/>
            <a:chOff x="1066800" y="2971800"/>
            <a:chExt cx="9867900" cy="1104900"/>
          </a:xfrm>
        </p:grpSpPr>
        <p:sp>
          <p:nvSpPr>
            <p:cNvPr id="4" name="Line 4"/>
            <p:cNvSpPr/>
            <p:nvPr/>
          </p:nvSpPr>
          <p:spPr>
            <a:xfrm>
              <a:off x="1428750" y="35242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57150">
              <a:solidFill>
                <a:srgbClr val="D8E1EE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066800" y="2971800"/>
              <a:ext cx="1104900" cy="11049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3257550" y="2971800"/>
              <a:ext cx="1104900" cy="11049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448300" y="2971800"/>
              <a:ext cx="1104900" cy="1104900"/>
            </a:xfrm>
            <a:prstGeom prst="ellipse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639050" y="2971800"/>
              <a:ext cx="1104900" cy="11049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829800" y="2971800"/>
              <a:ext cx="1104900" cy="1104900"/>
            </a:xfrm>
            <a:prstGeom prst="ellipse">
              <a:avLst/>
            </a:prstGeom>
            <a:solidFill>
              <a:srgbClr val="14B8A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00162" y="3438525"/>
              <a:ext cx="638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选模板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90900" y="34385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填表校验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81650" y="34385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提交审批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72400" y="34385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安全确认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63150" y="34385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通知留痕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476" y="4521518"/>
            <a:ext cx="8212479" cy="888682"/>
            <a:chOff x="571476" y="4521518"/>
            <a:chExt cx="8212479" cy="888682"/>
          </a:xfrm>
        </p:grpSpPr>
        <p:sp>
          <p:nvSpPr>
            <p:cNvPr id="16" name="TextBox 16"/>
            <p:cNvSpPr txBox="1"/>
            <p:nvPr/>
          </p:nvSpPr>
          <p:spPr>
            <a:xfrm>
              <a:off x="571476" y="4521518"/>
              <a:ext cx="20955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请假 / 报销 / 采购 / 权限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17545" y="5044440"/>
              <a:ext cx="55664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提交、审批、驳回、确认均写入业务记录或审计日志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64571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知识驱动流程，而不是把知识当附件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62000" y="2286000"/>
            <a:ext cx="10763250" cy="1714500"/>
            <a:chOff x="762000" y="2286000"/>
            <a:chExt cx="10763250" cy="1714500"/>
          </a:xfrm>
        </p:grpSpPr>
        <p:sp>
          <p:nvSpPr>
            <p:cNvPr id="4" name="Polygon 4"/>
            <p:cNvSpPr/>
            <p:nvPr/>
          </p:nvSpPr>
          <p:spPr>
            <a:xfrm>
              <a:off x="762000" y="2286000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0" y="0"/>
                  </a:moveTo>
                  <a:lnTo>
                    <a:pt x="1714500" y="0"/>
                  </a:lnTo>
                  <a:lnTo>
                    <a:pt x="2095500" y="857250"/>
                  </a:lnTo>
                  <a:lnTo>
                    <a:pt x="1714500" y="1714500"/>
                  </a:lnTo>
                  <a:lnTo>
                    <a:pt x="0" y="1714500"/>
                  </a:lnTo>
                  <a:lnTo>
                    <a:pt x="381000" y="857250"/>
                  </a:lnTo>
                  <a:close/>
                </a:path>
              </a:pathLst>
            </a:custGeom>
            <a:solidFill>
              <a:srgbClr val="1677FF"/>
            </a:solidFill>
            <a:ln>
              <a:noFill/>
            </a:ln>
          </p:spPr>
        </p:sp>
        <p:sp>
          <p:nvSpPr>
            <p:cNvPr id="5" name="Polygon 5"/>
            <p:cNvSpPr/>
            <p:nvPr/>
          </p:nvSpPr>
          <p:spPr>
            <a:xfrm>
              <a:off x="2952750" y="2286000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0" y="0"/>
                  </a:moveTo>
                  <a:lnTo>
                    <a:pt x="1714500" y="0"/>
                  </a:lnTo>
                  <a:lnTo>
                    <a:pt x="2095500" y="857250"/>
                  </a:lnTo>
                  <a:lnTo>
                    <a:pt x="1714500" y="1714500"/>
                  </a:lnTo>
                  <a:lnTo>
                    <a:pt x="0" y="1714500"/>
                  </a:lnTo>
                  <a:lnTo>
                    <a:pt x="381000" y="857250"/>
                  </a:lnTo>
                  <a:close/>
                </a:path>
              </a:pathLst>
            </a:custGeom>
            <a:solidFill>
              <a:srgbClr val="1677FF">
                <a:alpha val="85000"/>
              </a:srgbClr>
            </a:solidFill>
            <a:ln>
              <a:noFill/>
            </a:ln>
          </p:spPr>
        </p:sp>
        <p:sp>
          <p:nvSpPr>
            <p:cNvPr id="6" name="Polygon 6"/>
            <p:cNvSpPr/>
            <p:nvPr/>
          </p:nvSpPr>
          <p:spPr>
            <a:xfrm>
              <a:off x="5143500" y="2286000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0" y="0"/>
                  </a:moveTo>
                  <a:lnTo>
                    <a:pt x="1714500" y="0"/>
                  </a:lnTo>
                  <a:lnTo>
                    <a:pt x="2095500" y="857250"/>
                  </a:lnTo>
                  <a:lnTo>
                    <a:pt x="1714500" y="1714500"/>
                  </a:lnTo>
                  <a:lnTo>
                    <a:pt x="0" y="1714500"/>
                  </a:lnTo>
                  <a:lnTo>
                    <a:pt x="381000" y="857250"/>
                  </a:lnTo>
                  <a:close/>
                </a:path>
              </a:pathLst>
            </a:custGeom>
            <a:solidFill>
              <a:srgbClr val="1677FF">
                <a:alpha val="70000"/>
              </a:srgbClr>
            </a:solidFill>
            <a:ln>
              <a:noFill/>
            </a:ln>
          </p:spPr>
        </p:sp>
        <p:sp>
          <p:nvSpPr>
            <p:cNvPr id="7" name="Polygon 7"/>
            <p:cNvSpPr/>
            <p:nvPr/>
          </p:nvSpPr>
          <p:spPr>
            <a:xfrm>
              <a:off x="7334250" y="2286000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0" y="0"/>
                  </a:moveTo>
                  <a:lnTo>
                    <a:pt x="1714500" y="0"/>
                  </a:lnTo>
                  <a:lnTo>
                    <a:pt x="2095500" y="857250"/>
                  </a:lnTo>
                  <a:lnTo>
                    <a:pt x="1714500" y="1714500"/>
                  </a:lnTo>
                  <a:lnTo>
                    <a:pt x="0" y="1714500"/>
                  </a:lnTo>
                  <a:lnTo>
                    <a:pt x="381000" y="857250"/>
                  </a:lnTo>
                  <a:close/>
                </a:path>
              </a:pathLst>
            </a:custGeom>
            <a:solidFill>
              <a:srgbClr val="14B8A6"/>
            </a:solidFill>
            <a:ln>
              <a:noFill/>
            </a:ln>
          </p:spPr>
        </p:sp>
        <p:sp>
          <p:nvSpPr>
            <p:cNvPr id="8" name="Polygon 8"/>
            <p:cNvSpPr/>
            <p:nvPr/>
          </p:nvSpPr>
          <p:spPr>
            <a:xfrm>
              <a:off x="9525000" y="2286000"/>
              <a:ext cx="2000250" cy="1714500"/>
            </a:xfrm>
            <a:custGeom>
              <a:avLst/>
              <a:gdLst/>
              <a:ahLst/>
              <a:cxnLst/>
              <a:rect l="l" t="t" r="r" b="b"/>
              <a:pathLst>
                <a:path w="2000250" h="1714500">
                  <a:moveTo>
                    <a:pt x="0" y="0"/>
                  </a:moveTo>
                  <a:lnTo>
                    <a:pt x="1619250" y="0"/>
                  </a:lnTo>
                  <a:lnTo>
                    <a:pt x="2000250" y="857250"/>
                  </a:lnTo>
                  <a:lnTo>
                    <a:pt x="1619250" y="1714500"/>
                  </a:lnTo>
                  <a:lnTo>
                    <a:pt x="0" y="1714500"/>
                  </a:lnTo>
                  <a:lnTo>
                    <a:pt x="381000" y="857250"/>
                  </a:lnTo>
                  <a:close/>
                </a:path>
              </a:pathLst>
            </a:custGeom>
            <a:solidFill>
              <a:srgbClr val="0B1F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8712" y="3031808"/>
              <a:ext cx="1362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自然语言提问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39490" y="3031808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知识匹配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30240" y="3031808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返回摘要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20990" y="3031808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推荐流程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16490" y="3031808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合规办理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696766" y="4941094"/>
            <a:ext cx="679846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在业务办理的关键时刻提供制度依据，降低理解与填写成本。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80533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将自然语言问题转化为知识答案与下一步操作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62000" y="1476375"/>
            <a:ext cx="6000750" cy="3905250"/>
            <a:chOff x="762000" y="1476375"/>
            <a:chExt cx="6000750" cy="3905250"/>
          </a:xfrm>
        </p:grpSpPr>
        <p:sp>
          <p:nvSpPr>
            <p:cNvPr id="4" name="Rectangle 4"/>
            <p:cNvSpPr/>
            <p:nvPr/>
          </p:nvSpPr>
          <p:spPr>
            <a:xfrm>
              <a:off x="762000" y="1476375"/>
              <a:ext cx="6000750" cy="3905250"/>
            </a:xfrm>
            <a:prstGeom prst="roundRect">
              <a:avLst>
                <a:gd name="adj" fmla="val 1951"/>
              </a:avLst>
            </a:prstGeom>
            <a:solidFill>
              <a:srgbClr val="F5F8FC"/>
            </a:solidFill>
            <a:ln w="9525">
              <a:solidFill>
                <a:srgbClr val="D8E1E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3950" y="19335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员工提问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143000" y="2333625"/>
              <a:ext cx="4762500" cy="666750"/>
            </a:xfrm>
            <a:prstGeom prst="roundRect">
              <a:avLst>
                <a:gd name="adj" fmla="val 11429"/>
              </a:avLst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60170" y="25650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报销打车费需要什么材料？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3950" y="33623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助手回答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143000" y="3762375"/>
              <a:ext cx="4953000" cy="1190625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61122" y="4001929"/>
              <a:ext cx="27703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发票、行程截图和事由说明。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3980" y="44072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同时推荐《差旅报销制度》与报销申请入口。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24750" y="1476375"/>
            <a:ext cx="5327809" cy="3905250"/>
            <a:chOff x="7524750" y="1476375"/>
            <a:chExt cx="5327809" cy="3905250"/>
          </a:xfrm>
        </p:grpSpPr>
        <p:sp>
          <p:nvSpPr>
            <p:cNvPr id="13" name="Rectangle 13"/>
            <p:cNvSpPr/>
            <p:nvPr/>
          </p:nvSpPr>
          <p:spPr>
            <a:xfrm>
              <a:off x="7524750" y="1476375"/>
              <a:ext cx="3619500" cy="3905250"/>
            </a:xfrm>
            <a:prstGeom prst="roundRect">
              <a:avLst>
                <a:gd name="adj" fmla="val 2105"/>
              </a:avLst>
            </a:prstGeom>
            <a:solidFill>
              <a:srgbClr val="F5F8FC"/>
            </a:solidFill>
            <a:ln w="9525">
              <a:solidFill>
                <a:srgbClr val="D8E1E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80985" y="198024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下一步行动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85748" y="2687479"/>
              <a:ext cx="88011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关联知识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85748" y="3163729"/>
              <a:ext cx="88011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推荐流程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85748" y="3639979"/>
              <a:ext cx="130016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最近问答记录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89558" y="4529614"/>
              <a:ext cx="49630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当前以可解释的匹配与服务接口实现；真实大模型作为后续扩展。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765433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关键审批不只追求快，更要求可控与可追溯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6750" y="1524000"/>
            <a:ext cx="4572000" cy="3429000"/>
            <a:chOff x="666750" y="1524000"/>
            <a:chExt cx="4572000" cy="3429000"/>
          </a:xfrm>
        </p:grpSpPr>
        <p:sp>
          <p:nvSpPr>
            <p:cNvPr id="4" name="Rectangle 4"/>
            <p:cNvSpPr/>
            <p:nvPr/>
          </p:nvSpPr>
          <p:spPr>
            <a:xfrm>
              <a:off x="666750" y="1524000"/>
              <a:ext cx="4572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1080" y="18688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阈值规则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4890" y="2567940"/>
              <a:ext cx="23980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报销金额超过 5000 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4890" y="3091815"/>
              <a:ext cx="25300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采购金额超过 10000 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8700" y="383857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触发二次安全确认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0" y="1524000"/>
            <a:ext cx="4572000" cy="3429000"/>
            <a:chOff x="6667500" y="1524000"/>
            <a:chExt cx="4572000" cy="3429000"/>
          </a:xfrm>
        </p:grpSpPr>
        <p:sp>
          <p:nvSpPr>
            <p:cNvPr id="10" name="Rectangle 10"/>
            <p:cNvSpPr/>
            <p:nvPr/>
          </p:nvSpPr>
          <p:spPr>
            <a:xfrm>
              <a:off x="6667500" y="1524000"/>
              <a:ext cx="4572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21830" y="18688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9F6E"/>
                  </a:solidFill>
                  <a:latin typeface="Arial"/>
                  <a:ea typeface="Microsoft YaHei"/>
                  <a:cs typeface="Arial"/>
                </a:rPr>
                <a:t>安全审计链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25640" y="2567940"/>
              <a:ext cx="224199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权限校验 → 二次确认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25640" y="3091815"/>
              <a:ext cx="224199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审批结果 → 通知生成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29450" y="383857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关键操作写入业务记录与审计日志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885148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平台特色需要真实说明，而不是将规划写成已交付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2500" y="1619250"/>
            <a:ext cx="10287000" cy="3714750"/>
            <a:chOff x="952500" y="1619250"/>
            <a:chExt cx="10287000" cy="3714750"/>
          </a:xfrm>
        </p:grpSpPr>
        <p:sp>
          <p:nvSpPr>
            <p:cNvPr id="4" name="Rectangle 4"/>
            <p:cNvSpPr/>
            <p:nvPr/>
          </p:nvSpPr>
          <p:spPr>
            <a:xfrm>
              <a:off x="952500" y="1619250"/>
              <a:ext cx="10287000" cy="1047750"/>
            </a:xfrm>
            <a:prstGeom prst="roundRect">
              <a:avLst>
                <a:gd name="adj" fmla="val 7273"/>
              </a:avLst>
            </a:prstGeom>
            <a:solidFill>
              <a:srgbClr val="E6F7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307782" y="1829276"/>
              <a:ext cx="288678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0F9F6E"/>
                  </a:solidFill>
                  <a:latin typeface="Arial"/>
                  <a:ea typeface="Microsoft YaHei"/>
                  <a:cs typeface="Arial"/>
                </a:rPr>
                <a:t>已实现：真实 API 接入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14450" y="2238375"/>
              <a:ext cx="77390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FormKit 服务卡片 · CoreVisionKit OCR · MediaLibraryKit/ImageKit · Preferences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952750"/>
              <a:ext cx="10287000" cy="1047750"/>
            </a:xfrm>
            <a:prstGeom prst="roundRect">
              <a:avLst>
                <a:gd name="adj" fmla="val 7273"/>
              </a:avLst>
            </a:prstGeom>
            <a:solidFill>
              <a:srgbClr val="EE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07782" y="3162776"/>
              <a:ext cx="373739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可演示：稳定体验与降级策略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4450" y="3571875"/>
              <a:ext cx="47586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OCR 失败降级 · 沉浸光感 · 可变字号 · 模拟智能问答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4286250"/>
              <a:ext cx="10287000" cy="1047750"/>
            </a:xfrm>
            <a:prstGeom prst="roundRect">
              <a:avLst>
                <a:gd name="adj" fmla="val 7273"/>
              </a:avLst>
            </a:prstGeom>
            <a:solidFill>
              <a:srgbClr val="FFF7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07782" y="4496276"/>
              <a:ext cx="373739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预留：系统级智能与安全能力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14450" y="4905375"/>
              <a:ext cx="4738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Agent · Skill · 闪控窗 · 碰一碰 · 数字身份 · 数字盾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10248162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FormExtensionAbility 将工作台摘要同步到桌面服务卡片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0125" y="1666875"/>
            <a:ext cx="3429000" cy="3429000"/>
            <a:chOff x="1000125" y="1666875"/>
            <a:chExt cx="3429000" cy="3429000"/>
          </a:xfrm>
        </p:grpSpPr>
        <p:sp>
          <p:nvSpPr>
            <p:cNvPr id="4" name="Rectangle 4"/>
            <p:cNvSpPr/>
            <p:nvPr/>
          </p:nvSpPr>
          <p:spPr>
            <a:xfrm>
              <a:off x="1000125" y="1666875"/>
              <a:ext cx="3429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28575">
              <a:solidFill>
                <a:srgbClr val="1677FF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358265" y="1996440"/>
              <a:ext cx="20997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智协库 · 工作摘要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41120" y="2612708"/>
              <a:ext cx="32259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76450" y="2790825"/>
              <a:ext cx="638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项待办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41120" y="3374708"/>
              <a:ext cx="32259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4B8A6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76450" y="3552825"/>
              <a:ext cx="638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条未读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3980" y="4378642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点击进入对应页面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164580" y="2011680"/>
            <a:ext cx="2744153" cy="2641282"/>
            <a:chOff x="6164580" y="2011680"/>
            <a:chExt cx="2744153" cy="2641282"/>
          </a:xfrm>
        </p:grpSpPr>
        <p:sp>
          <p:nvSpPr>
            <p:cNvPr id="12" name="TextBox 12"/>
            <p:cNvSpPr txBox="1"/>
            <p:nvPr/>
          </p:nvSpPr>
          <p:spPr>
            <a:xfrm>
              <a:off x="6164580" y="2011680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摘要同步路径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70295" y="27746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工作台摘要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70295" y="3298508"/>
              <a:ext cx="209916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Preferences 持久化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70295" y="3822382"/>
              <a:ext cx="24292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formProvider 更新卡片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74105" y="4378642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只同步摘要，不复制流程状态机。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6916095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OCR 与沉浸式阅读增强移动端知识体验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66750" y="1524000"/>
            <a:ext cx="4953000" cy="3714750"/>
            <a:chOff x="666750" y="1524000"/>
            <a:chExt cx="4953000" cy="3714750"/>
          </a:xfrm>
        </p:grpSpPr>
        <p:sp>
          <p:nvSpPr>
            <p:cNvPr id="4" name="Rectangle 4"/>
            <p:cNvSpPr/>
            <p:nvPr/>
          </p:nvSpPr>
          <p:spPr>
            <a:xfrm>
              <a:off x="666750" y="1524000"/>
              <a:ext cx="4953000" cy="3714750"/>
            </a:xfrm>
            <a:prstGeom prst="roundRect">
              <a:avLst>
                <a:gd name="adj" fmla="val 2051"/>
              </a:avLst>
            </a:prstGeom>
            <a:solidFill>
              <a:srgbClr val="F5F8F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1080" y="1916430"/>
              <a:ext cx="2699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图片识别到关联知识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7748" y="2592229"/>
              <a:ext cx="22872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CoreVisionKit 文本识别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7748" y="3068479"/>
              <a:ext cx="214026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MediaLibraryKit 选图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7748" y="3544729"/>
              <a:ext cx="180422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ImageKit 图像处理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0605" y="4235768"/>
              <a:ext cx="33827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系统 OCR → 云端 OCR → 演示结果三级降级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72250" y="1524000"/>
            <a:ext cx="4953000" cy="3714750"/>
            <a:chOff x="6572250" y="1524000"/>
            <a:chExt cx="4953000" cy="3714750"/>
          </a:xfrm>
        </p:grpSpPr>
        <p:sp>
          <p:nvSpPr>
            <p:cNvPr id="11" name="Rectangle 11"/>
            <p:cNvSpPr/>
            <p:nvPr/>
          </p:nvSpPr>
          <p:spPr>
            <a:xfrm>
              <a:off x="6572250" y="1524000"/>
              <a:ext cx="4953000" cy="3714750"/>
            </a:xfrm>
            <a:prstGeom prst="roundRect">
              <a:avLst>
                <a:gd name="adj" fmla="val 2051"/>
              </a:avLst>
            </a:prstGeom>
            <a:solidFill>
              <a:srgbClr val="F5F8F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26580" y="1916430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B8A6"/>
                  </a:solidFill>
                  <a:latin typeface="Arial"/>
                  <a:ea typeface="Microsoft YaHei"/>
                  <a:cs typeface="Arial"/>
                </a:rPr>
                <a:t>阅读体验层次化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33248" y="2592229"/>
              <a:ext cx="17202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知识详情字号档位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33248" y="3068479"/>
              <a:ext cx="245530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EdgeLightPanel 沉浸光感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33248" y="3544729"/>
              <a:ext cx="214026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结构化标签与版本信息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36105" y="42357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体验能力服务于真实办公任务。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805338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先做可控的业务助手，再逐步开放系统级能力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62000" y="1571625"/>
            <a:ext cx="4572000" cy="3714750"/>
            <a:chOff x="762000" y="1571625"/>
            <a:chExt cx="4572000" cy="3714750"/>
          </a:xfrm>
        </p:grpSpPr>
        <p:sp>
          <p:nvSpPr>
            <p:cNvPr id="4" name="Rectangle 4"/>
            <p:cNvSpPr/>
            <p:nvPr/>
          </p:nvSpPr>
          <p:spPr>
            <a:xfrm>
              <a:off x="762000" y="1571625"/>
              <a:ext cx="4572000" cy="3714750"/>
            </a:xfrm>
            <a:prstGeom prst="roundRect">
              <a:avLst>
                <a:gd name="adj" fmla="val 205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16330" y="1916430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9F6E"/>
                  </a:solidFill>
                  <a:latin typeface="Arial"/>
                  <a:ea typeface="Microsoft YaHei"/>
                  <a:cs typeface="Arial"/>
                </a:rPr>
                <a:t>当前可演示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2045" y="2679382"/>
              <a:ext cx="148309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文本/图片输入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2045" y="315563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知识匹配与流程意图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2045" y="363188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表单草稿与人工确认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0" y="1571625"/>
            <a:ext cx="4572000" cy="3714750"/>
            <a:chOff x="6858000" y="1571625"/>
            <a:chExt cx="4572000" cy="3714750"/>
          </a:xfrm>
        </p:grpSpPr>
        <p:sp>
          <p:nvSpPr>
            <p:cNvPr id="10" name="Rectangle 10"/>
            <p:cNvSpPr/>
            <p:nvPr/>
          </p:nvSpPr>
          <p:spPr>
            <a:xfrm>
              <a:off x="6858000" y="1571625"/>
              <a:ext cx="4572000" cy="3714750"/>
            </a:xfrm>
            <a:prstGeom prst="roundRect">
              <a:avLst>
                <a:gd name="adj" fmla="val 205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12330" y="1916430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平台预留能力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18045" y="2679382"/>
              <a:ext cx="11530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Agent 编排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18045" y="3155632"/>
              <a:ext cx="36283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Skill：查制度 / 发起流程 / 查看待办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18045" y="3631882"/>
              <a:ext cx="35623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闪控窗、碰一碰、数字身份、数字盾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22808" y="4386739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均为规划，不宣称已发布。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5305" y="406718"/>
            <a:ext cx="885148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四项创新共同支撑可用、可控、可扩展的协作体验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66750" y="1619250"/>
            <a:ext cx="10763250" cy="3714750"/>
            <a:chOff x="666750" y="1619250"/>
            <a:chExt cx="10763250" cy="3714750"/>
          </a:xfrm>
        </p:grpSpPr>
        <p:sp>
          <p:nvSpPr>
            <p:cNvPr id="4" name="Rectangle 4"/>
            <p:cNvSpPr/>
            <p:nvPr/>
          </p:nvSpPr>
          <p:spPr>
            <a:xfrm>
              <a:off x="666750" y="1619250"/>
              <a:ext cx="2476500" cy="3714750"/>
            </a:xfrm>
            <a:prstGeom prst="roundRect">
              <a:avLst>
                <a:gd name="adj" fmla="val 3077"/>
              </a:avLst>
            </a:prstGeom>
            <a:solidFill>
              <a:srgbClr val="F5F8FC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3429000" y="1619250"/>
              <a:ext cx="2476500" cy="3714750"/>
            </a:xfrm>
            <a:prstGeom prst="roundRect">
              <a:avLst>
                <a:gd name="adj" fmla="val 3077"/>
              </a:avLst>
            </a:prstGeom>
            <a:solidFill>
              <a:srgbClr val="F5F8FC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191250" y="1619250"/>
              <a:ext cx="2476500" cy="3714750"/>
            </a:xfrm>
            <a:prstGeom prst="roundRect">
              <a:avLst>
                <a:gd name="adj" fmla="val 3077"/>
              </a:avLst>
            </a:prstGeom>
            <a:solidFill>
              <a:srgbClr val="F5F8FC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953500" y="1619250"/>
              <a:ext cx="2476500" cy="3714750"/>
            </a:xfrm>
            <a:prstGeom prst="roundRect">
              <a:avLst>
                <a:gd name="adj" fmla="val 3077"/>
              </a:avLst>
            </a:prstGeom>
            <a:solidFill>
              <a:srgbClr val="F5F8F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7735" y="2075498"/>
              <a:ext cx="183790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知识-流程联动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4402" y="270367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依据进入办理时刻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89985" y="20754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677FF"/>
                  </a:solidFill>
                  <a:latin typeface="Arial"/>
                  <a:ea typeface="Microsoft YaHei"/>
                  <a:cs typeface="Arial"/>
                </a:rPr>
                <a:t>智能辅助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96652" y="2703671"/>
              <a:ext cx="13663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问题转行动建议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52235" y="20754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B8A6"/>
                  </a:solidFill>
                  <a:latin typeface="Arial"/>
                  <a:ea typeface="Microsoft YaHei"/>
                  <a:cs typeface="Arial"/>
                </a:rPr>
                <a:t>安全审计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58902" y="270367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确认、权限、日志联动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14485" y="207549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原生与扩展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21152" y="2703671"/>
              <a:ext cx="209795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卡片、OCR、前后端解耦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35789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800100" y="1181100"/>
            <a:ext cx="11455718" cy="3590925"/>
            <a:chOff x="800100" y="1181100"/>
            <a:chExt cx="11455718" cy="3590925"/>
          </a:xfrm>
        </p:grpSpPr>
        <p:sp>
          <p:nvSpPr>
            <p:cNvPr id="3" name="TextBox 3"/>
            <p:cNvSpPr txBox="1"/>
            <p:nvPr/>
          </p:nvSpPr>
          <p:spPr>
            <a:xfrm>
              <a:off x="800100" y="1181100"/>
              <a:ext cx="1145571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让每一次协作都有依据、有进度、有留痕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876300" y="2238375"/>
              <a:ext cx="3886200" cy="9525"/>
            </a:xfrm>
            <a:custGeom>
              <a:avLst/>
              <a:gdLst/>
              <a:ahLst/>
              <a:cxnLst/>
              <a:rect l="l" t="t" r="r" b="b"/>
              <a:pathLst>
                <a:path w="3886200" h="9525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noFill/>
            <a:ln w="57150">
              <a:solidFill>
                <a:srgbClr val="14B8A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78205" y="3011805"/>
              <a:ext cx="537400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解决查知识难、办流程慢、审批依据不统一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3678555"/>
              <a:ext cx="453390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已形成前后端协作的可运行业务服务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78205" y="4345305"/>
              <a:ext cx="536000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以真实能力边界呈现 HarmonyOS 平台特色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4875" y="5429250"/>
            <a:ext cx="4953000" cy="438150"/>
            <a:chOff x="904875" y="5429250"/>
            <a:chExt cx="4953000" cy="438150"/>
          </a:xfrm>
        </p:grpSpPr>
        <p:sp>
          <p:nvSpPr>
            <p:cNvPr id="9" name="Rectangle 9"/>
            <p:cNvSpPr/>
            <p:nvPr/>
          </p:nvSpPr>
          <p:spPr>
            <a:xfrm>
              <a:off x="904875" y="5429250"/>
              <a:ext cx="1524000" cy="438150"/>
            </a:xfrm>
            <a:prstGeom prst="roundRect">
              <a:avLst>
                <a:gd name="adj" fmla="val 17391"/>
              </a:avLst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619375" y="5429250"/>
              <a:ext cx="1524000" cy="438150"/>
            </a:xfrm>
            <a:prstGeom prst="roundRect">
              <a:avLst>
                <a:gd name="adj" fmla="val 17391"/>
              </a:avLst>
            </a:prstGeom>
            <a:solidFill>
              <a:srgbClr val="14B8A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333875" y="5429250"/>
              <a:ext cx="1524000" cy="43815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47775" y="55530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业务闭环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62275" y="55530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工程扩展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76775" y="55530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平台特色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2026-07-16T12:59:51Z</dcterms:created>
  <dcterms:modified xsi:type="dcterms:W3CDTF">2026-07-16T12:59:51Z</dcterms:modified>
  <cp:category/>
  <cp:contentStatus/>
</cp:coreProperties>
</file>